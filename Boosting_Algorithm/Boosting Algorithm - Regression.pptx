
<file path=[Content_Types].xml><?xml version="1.0" encoding="utf-8"?>
<Types xmlns="http://schemas.openxmlformats.org/package/2006/content-types">
  <Default Extension="webp"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2" d="100"/>
          <a:sy n="72" d="100"/>
        </p:scale>
        <p:origin x="660" y="7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10/9/2026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10/9/2026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10/9/2026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10/9/2026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10/9/2026</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scikit-learn.org/stable/modules/generated/sklearn.ensemble.AdaBoostRegressor.html" TargetMode="External"/><Relationship Id="rId2" Type="http://schemas.openxmlformats.org/officeDocument/2006/relationships/hyperlink" Target="scikit-learn.org/stable/modulescikit-learn.org/stable/modules/generated/sklearn.ensemble.AdaBoostRegressor.htmls/generated/sklearn.ensemble.AdaBoostRegressor.html" TargetMode="Externa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s://www.geeksforgeeks.org/machine-learning/adaboost-in-machine-learning/" TargetMode="External"/><Relationship Id="rId2" Type="http://schemas.openxmlformats.org/officeDocument/2006/relationships/hyperlink" Target="scikit-learn.org/stable/modulescikit-learn.org/stable/modules/generated/sklearn.ensemble.AdaBoostRegressor.htmls/generated/sklearn.ensemble.AdaBoostRegressor.html" TargetMode="Externa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hyperlink" Target="https://www.geeksforgeeks.org/machine-learning/adaboost-in-machine-learning/" TargetMode="External"/><Relationship Id="rId2" Type="http://schemas.openxmlformats.org/officeDocument/2006/relationships/hyperlink" Target="scikit-learn.org/stable/modulescikit-learn.org/stable/modules/generated/sklearn.ensemble.AdaBoostRegressor.htmls/generated/sklearn.ensemble.AdaBoostRegressor.html" TargetMode="External"/><Relationship Id="rId1" Type="http://schemas.openxmlformats.org/officeDocument/2006/relationships/slideLayout" Target="../slideLayouts/slideLayout1.xml"/><Relationship Id="rId4" Type="http://schemas.openxmlformats.org/officeDocument/2006/relationships/image" Target="../media/image1.webp"/></Relationships>
</file>

<file path=ppt/slides/_rels/slide5.xml.rels><?xml version="1.0" encoding="UTF-8" standalone="yes"?>
<Relationships xmlns="http://schemas.openxmlformats.org/package/2006/relationships"><Relationship Id="rId3" Type="http://schemas.openxmlformats.org/officeDocument/2006/relationships/hyperlink" Target="https://www.geeksforgeeks.org/machine-learning/adaboost-in-machine-learning/" TargetMode="External"/><Relationship Id="rId2" Type="http://schemas.openxmlformats.org/officeDocument/2006/relationships/hyperlink" Target="scikit-learn.org/stable/modulescikit-learn.org/stable/modules/generated/sklearn.ensemble.AdaBoostRegressor.htmls/generated/sklearn.ensemble.AdaBoostRegressor.html" TargetMode="Externa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hyperlink" Target="https://www.geeksforgeeks.org/machine-learning/ml-gradient-boosting/" TargetMode="External"/><Relationship Id="rId2" Type="http://schemas.openxmlformats.org/officeDocument/2006/relationships/hyperlink" Target="scikit-learn.org/stable/modulescikit-learn.org/stable/modules/generated/sklearn.ensemble.AdaBoostRegressor.htmls/generated/sklearn.ensemble.AdaBoostRegressor.html" TargetMode="Externa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hyperlink" Target="scikit-learn.org/stable/modulescikit-learn.org/stable/modules/generated/sklearn.ensemble.AdaBoostRegressor.htmls/generated/sklearn.ensemble.AdaBoostRegressor.html" TargetMode="External"/><Relationship Id="rId2" Type="http://schemas.openxmlformats.org/officeDocument/2006/relationships/hyperlink" Target="https://www.geeksforgeeks.org/machine-learning/optimization-algorithms-in-machine-learning/" TargetMode="External"/><Relationship Id="rId1" Type="http://schemas.openxmlformats.org/officeDocument/2006/relationships/slideLayout" Target="../slideLayouts/slideLayout1.xml"/><Relationship Id="rId5" Type="http://schemas.openxmlformats.org/officeDocument/2006/relationships/image" Target="../media/image2.webp"/><Relationship Id="rId4" Type="http://schemas.openxmlformats.org/officeDocument/2006/relationships/hyperlink" Target="https://www.geeksforgeeks.org/machine-learning/gradient-descent-algorithm-and-its-variants/"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www.geeksforgeeks.org/machine-learning/gradient-descent-algorithm-and-its-variants/" TargetMode="External"/><Relationship Id="rId2" Type="http://schemas.openxmlformats.org/officeDocument/2006/relationships/hyperlink" Target="scikit-learn.org/stable/modulescikit-learn.org/stable/modules/generated/sklearn.ensemble.AdaBoostRegressor.htmls/generated/sklearn.ensemble.AdaBoostRegressor.html" TargetMode="External"/><Relationship Id="rId1" Type="http://schemas.openxmlformats.org/officeDocument/2006/relationships/slideLayout" Target="../slideLayouts/slideLayout1.xml"/><Relationship Id="rId4" Type="http://schemas.openxmlformats.org/officeDocument/2006/relationships/image" Target="../media/image3.webp"/></Relationships>
</file>

<file path=ppt/slides/_rels/slide9.xml.rels><?xml version="1.0" encoding="UTF-8" standalone="yes"?>
<Relationships xmlns="http://schemas.openxmlformats.org/package/2006/relationships"><Relationship Id="rId3" Type="http://schemas.openxmlformats.org/officeDocument/2006/relationships/hyperlink" Target="https://www.geeksforgeeks.org/machine-learning/xgboost/" TargetMode="External"/><Relationship Id="rId2" Type="http://schemas.openxmlformats.org/officeDocument/2006/relationships/hyperlink" Target="scikit-learn.org/stable/modulescikit-learn.org/stable/modules/generated/sklearn.ensemble.AdaBoostRegressor.htmls/generated/sklearn.ensemble.AdaBoostRegressor.html" TargetMode="Externa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hyperlink" Target="https://www.geeksforgeeks.org/machine-learning/xgboost/" TargetMode="External"/><Relationship Id="rId2" Type="http://schemas.openxmlformats.org/officeDocument/2006/relationships/hyperlink" Target="scikit-learn.org/stable/modulescikit-learn.org/stable/modules/generated/sklearn.ensemble.AdaBoostRegressor.htmls/generated/sklearn.ensemble.AdaBoostRegressor.html" TargetMode="External"/><Relationship Id="rId1" Type="http://schemas.openxmlformats.org/officeDocument/2006/relationships/slideLayout" Target="../slideLayouts/slideLayout1.xml"/><Relationship Id="rId4" Type="http://schemas.openxmlformats.org/officeDocument/2006/relationships/image" Target="../media/image4.webp"/></Relationships>
</file>

<file path=ppt/slides/_rels/slide11.xml.rels><?xml version="1.0" encoding="UTF-8" standalone="yes"?>
<Relationships xmlns="http://schemas.openxmlformats.org/package/2006/relationships"><Relationship Id="rId3" Type="http://schemas.openxmlformats.org/officeDocument/2006/relationships/hyperlink" Target="https://www.geeksforgeeks.org/machine-learning/xgboost/" TargetMode="External"/><Relationship Id="rId2" Type="http://schemas.openxmlformats.org/officeDocument/2006/relationships/hyperlink" Target="scikit-learn.org/stable/modulescikit-learn.org/stable/modules/generated/sklearn.ensemble.AdaBoostRegressor.htmls/generated/sklearn.ensemble.AdaBoostRegressor.html" TargetMode="External"/><Relationship Id="rId1" Type="http://schemas.openxmlformats.org/officeDocument/2006/relationships/slideLayout" Target="../slideLayouts/slideLayout1.xml"/><Relationship Id="rId4" Type="http://schemas.openxmlformats.org/officeDocument/2006/relationships/hyperlink" Target="https://www.geeksforgeeks.org/machine-learning/decision-tree/"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www.geeksforgeeks.org/machine-learning/lightgbm-light-gradient-boosting-machine/" TargetMode="External"/><Relationship Id="rId2" Type="http://schemas.openxmlformats.org/officeDocument/2006/relationships/hyperlink" Target="scikit-learn.org/stable/modulescikit-learn.org/stable/modules/generated/sklearn.ensemble.AdaBoostRegressor.htmls/generated/sklearn.ensemble.AdaBoostRegressor.html" TargetMode="Externa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s://www.geeksforgeeks.org/machine-learning/lightgbm-light-gradient-boosting-machine/" TargetMode="External"/><Relationship Id="rId2" Type="http://schemas.openxmlformats.org/officeDocument/2006/relationships/hyperlink" Target="scikit-learn.org/stable/modulescikit-learn.org/stable/modules/generated/sklearn.ensemble.AdaBoostRegressor.htmls/generated/sklearn.ensemble.AdaBoostRegressor.html" TargetMode="External"/><Relationship Id="rId1" Type="http://schemas.openxmlformats.org/officeDocument/2006/relationships/slideLayout" Target="../slideLayouts/slideLayout1.xml"/><Relationship Id="rId4" Type="http://schemas.openxmlformats.org/officeDocument/2006/relationships/image" Target="../media/image5.webp"/></Relationships>
</file>

<file path=ppt/slides/_rels/slide14.xml.rels><?xml version="1.0" encoding="UTF-8" standalone="yes"?>
<Relationships xmlns="http://schemas.openxmlformats.org/package/2006/relationships"><Relationship Id="rId3" Type="http://schemas.openxmlformats.org/officeDocument/2006/relationships/hyperlink" Target="https://www.geeksforgeeks.org/machine-learning/lightgbm-light-gradient-boosting-machine/" TargetMode="External"/><Relationship Id="rId2" Type="http://schemas.openxmlformats.org/officeDocument/2006/relationships/hyperlink" Target="scikit-learn.org/stable/modulescikit-learn.org/stable/modules/generated/sklearn.ensemble.AdaBoostRegressor.htmls/generated/sklearn.ensemble.AdaBoostRegressor.html" TargetMode="External"/><Relationship Id="rId1" Type="http://schemas.openxmlformats.org/officeDocument/2006/relationships/slideLayout" Target="../slideLayouts/slideLayout1.xml"/><Relationship Id="rId4" Type="http://schemas.openxmlformats.org/officeDocument/2006/relationships/image" Target="../media/image6.webp"/></Relationships>
</file>

<file path=ppt/slides/_rels/slide15.xml.rels><?xml version="1.0" encoding="UTF-8" standalone="yes"?>
<Relationships xmlns="http://schemas.openxmlformats.org/package/2006/relationships"><Relationship Id="rId3" Type="http://schemas.openxmlformats.org/officeDocument/2006/relationships/hyperlink" Target="https://www.geeksforgeeks.org/machine-learning/lightgbm-light-gradient-boosting-machine/" TargetMode="External"/><Relationship Id="rId2" Type="http://schemas.openxmlformats.org/officeDocument/2006/relationships/hyperlink" Target="scikit-learn.org/stable/modulescikit-learn.org/stable/modules/generated/sklearn.ensemble.AdaBoostRegressor.htmls/generated/sklearn.ensemble.AdaBoostRegressor.html" TargetMode="External"/><Relationship Id="rId1" Type="http://schemas.openxmlformats.org/officeDocument/2006/relationships/slideLayout" Target="../slideLayouts/slideLayout1.xml"/><Relationship Id="rId4" Type="http://schemas.openxmlformats.org/officeDocument/2006/relationships/image" Target="../media/image7.webp"/></Relationships>
</file>

<file path=ppt/slides/_rels/slide16.xml.rels><?xml version="1.0" encoding="UTF-8" standalone="yes"?>
<Relationships xmlns="http://schemas.openxmlformats.org/package/2006/relationships"><Relationship Id="rId3" Type="http://schemas.openxmlformats.org/officeDocument/2006/relationships/hyperlink" Target="https://www.geeksforgeeks.org/machine-learning/lightgbm-light-gradient-boosting-machine/" TargetMode="External"/><Relationship Id="rId2" Type="http://schemas.openxmlformats.org/officeDocument/2006/relationships/hyperlink" Target="scikit-learn.org/stable/modulescikit-learn.org/stable/modules/generated/sklearn.ensemble.AdaBoostRegressor.htmls/generated/sklearn.ensemble.AdaBoostRegressor.html"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16934" y="2726636"/>
            <a:ext cx="8915399" cy="2262781"/>
          </a:xfrm>
        </p:spPr>
        <p:txBody>
          <a:bodyPr/>
          <a:lstStyle/>
          <a:p>
            <a:pPr algn="ctr"/>
            <a:r>
              <a:rPr lang="en-IN" dirty="0" smtClean="0"/>
              <a:t>Boosting Algorithm - Regression</a:t>
            </a:r>
            <a:endParaRPr lang="en-IN" dirty="0"/>
          </a:p>
        </p:txBody>
      </p:sp>
      <p:sp>
        <p:nvSpPr>
          <p:cNvPr id="3" name="TextBox 2"/>
          <p:cNvSpPr txBox="1"/>
          <p:nvPr/>
        </p:nvSpPr>
        <p:spPr>
          <a:xfrm>
            <a:off x="10167087" y="6374295"/>
            <a:ext cx="2024913" cy="369332"/>
          </a:xfrm>
          <a:prstGeom prst="rect">
            <a:avLst/>
          </a:prstGeom>
          <a:noFill/>
        </p:spPr>
        <p:txBody>
          <a:bodyPr wrap="none" rtlCol="0">
            <a:spAutoFit/>
          </a:bodyPr>
          <a:lstStyle/>
          <a:p>
            <a:r>
              <a:rPr lang="en-IN" dirty="0" smtClean="0"/>
              <a:t>Date: 03.10.2026</a:t>
            </a:r>
            <a:endParaRPr lang="en-IN" dirty="0"/>
          </a:p>
        </p:txBody>
      </p:sp>
    </p:spTree>
    <p:extLst>
      <p:ext uri="{BB962C8B-B14F-4D97-AF65-F5344CB8AC3E}">
        <p14:creationId xmlns:p14="http://schemas.microsoft.com/office/powerpoint/2010/main" val="44560686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85252" y="583096"/>
            <a:ext cx="4990469" cy="553998"/>
          </a:xfrm>
          <a:prstGeom prst="rect">
            <a:avLst/>
          </a:prstGeom>
          <a:noFill/>
        </p:spPr>
        <p:txBody>
          <a:bodyPr wrap="none" rtlCol="0">
            <a:spAutoFit/>
          </a:bodyPr>
          <a:lstStyle/>
          <a:p>
            <a:r>
              <a:rPr lang="en-IN" sz="3000" b="1" dirty="0" smtClean="0"/>
              <a:t>1. ADABOOST REGRESSOR</a:t>
            </a:r>
            <a:endParaRPr lang="en-IN" sz="3000" b="1" dirty="0"/>
          </a:p>
        </p:txBody>
      </p:sp>
      <p:sp>
        <p:nvSpPr>
          <p:cNvPr id="5" name="TextBox 4"/>
          <p:cNvSpPr txBox="1"/>
          <p:nvPr/>
        </p:nvSpPr>
        <p:spPr>
          <a:xfrm>
            <a:off x="2601251" y="1311964"/>
            <a:ext cx="8958470" cy="2308324"/>
          </a:xfrm>
          <a:prstGeom prst="rect">
            <a:avLst/>
          </a:prstGeom>
          <a:noFill/>
        </p:spPr>
        <p:txBody>
          <a:bodyPr wrap="square" rtlCol="0">
            <a:spAutoFit/>
          </a:bodyPr>
          <a:lstStyle/>
          <a:p>
            <a:pPr algn="just"/>
            <a:r>
              <a:rPr lang="en-IN" sz="2400" dirty="0" smtClean="0"/>
              <a:t>	An AdaBoost regressor is a meta-estimator that begins by fitting a regressor on the original dataset and then fits additional copies of the regressor on the same dataset but where the weights of instances are adjusted according to the error of the current prediction. As such, subsequent regressor focus more on difficult cases. </a:t>
            </a:r>
            <a:endParaRPr lang="en-IN" sz="2400" dirty="0"/>
          </a:p>
        </p:txBody>
      </p:sp>
      <p:sp>
        <p:nvSpPr>
          <p:cNvPr id="6" name="TextBox 5">
            <a:hlinkClick r:id="rId2"/>
          </p:cNvPr>
          <p:cNvSpPr txBox="1"/>
          <p:nvPr/>
        </p:nvSpPr>
        <p:spPr>
          <a:xfrm>
            <a:off x="2716695" y="6415565"/>
            <a:ext cx="7858540" cy="276999"/>
          </a:xfrm>
          <a:prstGeom prst="rect">
            <a:avLst/>
          </a:prstGeom>
          <a:noFill/>
        </p:spPr>
        <p:txBody>
          <a:bodyPr wrap="square" rtlCol="0">
            <a:spAutoFit/>
          </a:bodyPr>
          <a:lstStyle/>
          <a:p>
            <a:pPr algn="ctr"/>
            <a:r>
              <a:rPr lang="en-IN" sz="1200" b="1" dirty="0" smtClean="0">
                <a:solidFill>
                  <a:srgbClr val="0070C0"/>
                </a:solidFill>
              </a:rPr>
              <a:t>Source: </a:t>
            </a:r>
            <a:r>
              <a:rPr lang="en-IN" sz="1200" b="1" dirty="0" smtClean="0">
                <a:solidFill>
                  <a:srgbClr val="0070C0"/>
                </a:solidFill>
                <a:hlinkClick r:id="rId3"/>
              </a:rPr>
              <a:t>https://scikit-learn.org/stable/modules/generated/sklearn.ensemble.AdaBoostRegressor.html</a:t>
            </a:r>
            <a:endParaRPr lang="en-IN" sz="1200" b="1" dirty="0">
              <a:solidFill>
                <a:srgbClr val="0070C0"/>
              </a:solidFill>
            </a:endParaRPr>
          </a:p>
        </p:txBody>
      </p:sp>
      <p:sp>
        <p:nvSpPr>
          <p:cNvPr id="7" name="TextBox 6"/>
          <p:cNvSpPr txBox="1"/>
          <p:nvPr/>
        </p:nvSpPr>
        <p:spPr>
          <a:xfrm>
            <a:off x="2716695" y="3948926"/>
            <a:ext cx="8958470" cy="1200329"/>
          </a:xfrm>
          <a:prstGeom prst="rect">
            <a:avLst/>
          </a:prstGeom>
          <a:noFill/>
          <a:ln w="19050">
            <a:solidFill>
              <a:schemeClr val="accent1"/>
            </a:solidFill>
          </a:ln>
        </p:spPr>
        <p:txBody>
          <a:bodyPr wrap="square" rtlCol="0">
            <a:spAutoFit/>
          </a:bodyPr>
          <a:lstStyle/>
          <a:p>
            <a:r>
              <a:rPr lang="en-IN" b="1" dirty="0" smtClean="0"/>
              <a:t>Algorithm:</a:t>
            </a:r>
          </a:p>
          <a:p>
            <a:endParaRPr lang="en-IN" dirty="0"/>
          </a:p>
          <a:p>
            <a:r>
              <a:rPr lang="en-IN" i="1" dirty="0" smtClean="0"/>
              <a:t>class sklearn.ensemble.AdaBoostRegressor(estimator=None</a:t>
            </a:r>
            <a:r>
              <a:rPr lang="en-IN" i="1" dirty="0"/>
              <a:t>, *, n_estimators=50, learning_rate=1.0, loss='linear', random_state=None)</a:t>
            </a:r>
          </a:p>
        </p:txBody>
      </p:sp>
    </p:spTree>
    <p:extLst>
      <p:ext uri="{BB962C8B-B14F-4D97-AF65-F5344CB8AC3E}">
        <p14:creationId xmlns:p14="http://schemas.microsoft.com/office/powerpoint/2010/main" val="342429741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531165" y="543340"/>
            <a:ext cx="3972562" cy="400110"/>
          </a:xfrm>
          <a:prstGeom prst="rect">
            <a:avLst/>
          </a:prstGeom>
          <a:noFill/>
        </p:spPr>
        <p:txBody>
          <a:bodyPr wrap="none" rtlCol="0">
            <a:spAutoFit/>
          </a:bodyPr>
          <a:lstStyle/>
          <a:p>
            <a:r>
              <a:rPr lang="en-IN" sz="2000" b="1" dirty="0"/>
              <a:t>AdaBoost in Machine Learning</a:t>
            </a:r>
          </a:p>
        </p:txBody>
      </p:sp>
      <p:sp>
        <p:nvSpPr>
          <p:cNvPr id="5" name="TextBox 4"/>
          <p:cNvSpPr txBox="1"/>
          <p:nvPr/>
        </p:nvSpPr>
        <p:spPr>
          <a:xfrm>
            <a:off x="2531165" y="1099929"/>
            <a:ext cx="8958470" cy="4154984"/>
          </a:xfrm>
          <a:prstGeom prst="rect">
            <a:avLst/>
          </a:prstGeom>
          <a:noFill/>
        </p:spPr>
        <p:txBody>
          <a:bodyPr wrap="square" rtlCol="0">
            <a:spAutoFit/>
          </a:bodyPr>
          <a:lstStyle/>
          <a:p>
            <a:pPr algn="just"/>
            <a:r>
              <a:rPr lang="en-IN" sz="2400" dirty="0" smtClean="0"/>
              <a:t>	</a:t>
            </a:r>
            <a:r>
              <a:rPr lang="en-GB" sz="2400" dirty="0"/>
              <a:t>AdaBoost (Adaptive Boosting) is an ensemble learning technique that combines multiple weak classifiers to build a strong model. It works by sequentially focusing more on the misclassified data points from previous models.</a:t>
            </a:r>
          </a:p>
          <a:p>
            <a:pPr algn="just"/>
            <a:endParaRPr lang="en-GB" sz="2400" dirty="0"/>
          </a:p>
          <a:p>
            <a:pPr marL="342900" indent="-342900" algn="just">
              <a:buFont typeface="Wingdings" panose="05000000000000000000" pitchFamily="2" charset="2"/>
              <a:buChar char="Ø"/>
            </a:pPr>
            <a:r>
              <a:rPr lang="en-GB" sz="2400" dirty="0"/>
              <a:t>Trains models sequentially, each correcting previous </a:t>
            </a:r>
            <a:r>
              <a:rPr lang="en-GB" sz="2400" dirty="0" smtClean="0"/>
              <a:t>errors</a:t>
            </a:r>
          </a:p>
          <a:p>
            <a:pPr algn="just"/>
            <a:endParaRPr lang="en-GB" sz="2400" dirty="0"/>
          </a:p>
          <a:p>
            <a:pPr marL="342900" indent="-342900" algn="just">
              <a:buFont typeface="Wingdings" panose="05000000000000000000" pitchFamily="2" charset="2"/>
              <a:buChar char="Ø"/>
            </a:pPr>
            <a:r>
              <a:rPr lang="en-GB" sz="2400" dirty="0"/>
              <a:t>Assigns higher weights to misclassified </a:t>
            </a:r>
            <a:r>
              <a:rPr lang="en-GB" sz="2400" dirty="0" smtClean="0"/>
              <a:t>samples</a:t>
            </a:r>
          </a:p>
          <a:p>
            <a:pPr algn="just"/>
            <a:endParaRPr lang="en-GB" sz="2400" dirty="0"/>
          </a:p>
          <a:p>
            <a:pPr marL="342900" indent="-342900" algn="just">
              <a:buFont typeface="Wingdings" panose="05000000000000000000" pitchFamily="2" charset="2"/>
              <a:buChar char="Ø"/>
            </a:pPr>
            <a:r>
              <a:rPr lang="en-GB" sz="2400" dirty="0"/>
              <a:t>Final prediction is made using weighted voting</a:t>
            </a:r>
            <a:endParaRPr lang="en-IN" sz="2400" dirty="0"/>
          </a:p>
        </p:txBody>
      </p:sp>
      <p:sp>
        <p:nvSpPr>
          <p:cNvPr id="6" name="TextBox 5">
            <a:hlinkClick r:id="rId2"/>
          </p:cNvPr>
          <p:cNvSpPr txBox="1"/>
          <p:nvPr/>
        </p:nvSpPr>
        <p:spPr>
          <a:xfrm>
            <a:off x="2574457" y="6415565"/>
            <a:ext cx="7858540" cy="276999"/>
          </a:xfrm>
          <a:prstGeom prst="rect">
            <a:avLst/>
          </a:prstGeom>
          <a:noFill/>
        </p:spPr>
        <p:txBody>
          <a:bodyPr wrap="square" rtlCol="0">
            <a:spAutoFit/>
          </a:bodyPr>
          <a:lstStyle/>
          <a:p>
            <a:pPr algn="ctr"/>
            <a:r>
              <a:rPr lang="en-IN" sz="1200" b="1" dirty="0" smtClean="0">
                <a:solidFill>
                  <a:srgbClr val="0070C0"/>
                </a:solidFill>
              </a:rPr>
              <a:t>Source</a:t>
            </a:r>
            <a:r>
              <a:rPr lang="en-IN" sz="1200" b="1" dirty="0">
                <a:solidFill>
                  <a:srgbClr val="0070C0"/>
                </a:solidFill>
              </a:rPr>
              <a:t>: </a:t>
            </a:r>
            <a:r>
              <a:rPr lang="en-IN" sz="1200" b="1" dirty="0">
                <a:solidFill>
                  <a:srgbClr val="0070C0"/>
                </a:solidFill>
                <a:hlinkClick r:id="rId3"/>
              </a:rPr>
              <a:t>https://www.geeksforgeeks.org/machine-learning/adaboost-in-machine-learning/</a:t>
            </a:r>
            <a:endParaRPr lang="en-IN" sz="1200" b="1" dirty="0">
              <a:solidFill>
                <a:srgbClr val="0070C0"/>
              </a:solidFill>
            </a:endParaRPr>
          </a:p>
        </p:txBody>
      </p:sp>
    </p:spTree>
    <p:extLst>
      <p:ext uri="{BB962C8B-B14F-4D97-AF65-F5344CB8AC3E}">
        <p14:creationId xmlns:p14="http://schemas.microsoft.com/office/powerpoint/2010/main" val="151010794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574457" y="216595"/>
            <a:ext cx="2460930" cy="400110"/>
          </a:xfrm>
          <a:prstGeom prst="rect">
            <a:avLst/>
          </a:prstGeom>
          <a:noFill/>
        </p:spPr>
        <p:txBody>
          <a:bodyPr wrap="none" rtlCol="0">
            <a:spAutoFit/>
          </a:bodyPr>
          <a:lstStyle/>
          <a:p>
            <a:r>
              <a:rPr lang="en-IN" sz="2000" b="1" dirty="0"/>
              <a:t>AdaBoost </a:t>
            </a:r>
            <a:r>
              <a:rPr lang="en-IN" sz="2000" b="1" dirty="0" smtClean="0"/>
              <a:t>Working</a:t>
            </a:r>
            <a:endParaRPr lang="en-IN" sz="2000" b="1" dirty="0"/>
          </a:p>
        </p:txBody>
      </p:sp>
      <p:sp>
        <p:nvSpPr>
          <p:cNvPr id="6" name="TextBox 5">
            <a:hlinkClick r:id="rId2"/>
          </p:cNvPr>
          <p:cNvSpPr txBox="1"/>
          <p:nvPr/>
        </p:nvSpPr>
        <p:spPr>
          <a:xfrm>
            <a:off x="2574457" y="6415565"/>
            <a:ext cx="7858540" cy="276999"/>
          </a:xfrm>
          <a:prstGeom prst="rect">
            <a:avLst/>
          </a:prstGeom>
          <a:noFill/>
        </p:spPr>
        <p:txBody>
          <a:bodyPr wrap="square" rtlCol="0">
            <a:spAutoFit/>
          </a:bodyPr>
          <a:lstStyle/>
          <a:p>
            <a:pPr algn="ctr"/>
            <a:r>
              <a:rPr lang="en-IN" sz="1200" b="1" dirty="0" smtClean="0">
                <a:solidFill>
                  <a:srgbClr val="0070C0"/>
                </a:solidFill>
              </a:rPr>
              <a:t>Source</a:t>
            </a:r>
            <a:r>
              <a:rPr lang="en-IN" sz="1200" b="1" dirty="0">
                <a:solidFill>
                  <a:srgbClr val="0070C0"/>
                </a:solidFill>
              </a:rPr>
              <a:t>: </a:t>
            </a:r>
            <a:r>
              <a:rPr lang="en-IN" sz="1200" b="1" dirty="0">
                <a:solidFill>
                  <a:srgbClr val="0070C0"/>
                </a:solidFill>
                <a:hlinkClick r:id="rId3"/>
              </a:rPr>
              <a:t>https://www.geeksforgeeks.org/machine-learning/adaboost-in-machine-learning/</a:t>
            </a:r>
            <a:endParaRPr lang="en-IN" sz="1200" b="1" dirty="0">
              <a:solidFill>
                <a:srgbClr val="0070C0"/>
              </a:solidFill>
            </a:endParaRPr>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64787" y="2005184"/>
            <a:ext cx="7712765" cy="3856383"/>
          </a:xfrm>
          <a:prstGeom prst="rect">
            <a:avLst/>
          </a:prstGeom>
        </p:spPr>
      </p:pic>
      <p:sp>
        <p:nvSpPr>
          <p:cNvPr id="7" name="TextBox 6"/>
          <p:cNvSpPr txBox="1"/>
          <p:nvPr/>
        </p:nvSpPr>
        <p:spPr>
          <a:xfrm>
            <a:off x="2574457" y="707813"/>
            <a:ext cx="9233230" cy="1754326"/>
          </a:xfrm>
          <a:prstGeom prst="rect">
            <a:avLst/>
          </a:prstGeom>
          <a:noFill/>
        </p:spPr>
        <p:txBody>
          <a:bodyPr wrap="square" rtlCol="0">
            <a:spAutoFit/>
          </a:bodyPr>
          <a:lstStyle/>
          <a:p>
            <a:pPr fontAlgn="base"/>
            <a:r>
              <a:rPr lang="en-GB" dirty="0" smtClean="0"/>
              <a:t>	AdaBoost </a:t>
            </a:r>
            <a:r>
              <a:rPr lang="en-GB" dirty="0"/>
              <a:t>(Adaptive Boosting) assigns equal weights to all training samples initially and iteratively adjusts these weights by focusing more on misclassified data points for the next model. It effectively reduces bias and variance making it useful for classification tasks but it can be sensitive to noisy data and outliers.</a:t>
            </a:r>
          </a:p>
          <a:p>
            <a:r>
              <a:rPr lang="en-GB" dirty="0"/>
              <a:t/>
            </a:r>
            <a:br>
              <a:rPr lang="en-GB" dirty="0"/>
            </a:br>
            <a:endParaRPr lang="en-IN" dirty="0"/>
          </a:p>
        </p:txBody>
      </p:sp>
      <p:sp>
        <p:nvSpPr>
          <p:cNvPr id="9" name="Rectangle 8"/>
          <p:cNvSpPr/>
          <p:nvPr/>
        </p:nvSpPr>
        <p:spPr>
          <a:xfrm>
            <a:off x="2574457" y="5878061"/>
            <a:ext cx="9233230" cy="369332"/>
          </a:xfrm>
          <a:prstGeom prst="rect">
            <a:avLst/>
          </a:prstGeom>
        </p:spPr>
        <p:txBody>
          <a:bodyPr wrap="square">
            <a:spAutoFit/>
          </a:bodyPr>
          <a:lstStyle/>
          <a:p>
            <a:r>
              <a:rPr lang="en-GB" dirty="0">
                <a:solidFill>
                  <a:srgbClr val="273239"/>
                </a:solidFill>
                <a:latin typeface="Century Gothic" panose="020B0502020202020204" pitchFamily="34" charset="0"/>
              </a:rPr>
              <a:t>The above diagram explains the AdaBoost algorithm in a very simple way.</a:t>
            </a:r>
            <a:endParaRPr lang="en-IN" dirty="0">
              <a:latin typeface="Century Gothic" panose="020B0502020202020204" pitchFamily="34" charset="0"/>
            </a:endParaRPr>
          </a:p>
        </p:txBody>
      </p:sp>
    </p:spTree>
    <p:extLst>
      <p:ext uri="{BB962C8B-B14F-4D97-AF65-F5344CB8AC3E}">
        <p14:creationId xmlns:p14="http://schemas.microsoft.com/office/powerpoint/2010/main" val="127332502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385391" y="251792"/>
            <a:ext cx="8459367" cy="400110"/>
          </a:xfrm>
          <a:prstGeom prst="rect">
            <a:avLst/>
          </a:prstGeom>
          <a:noFill/>
        </p:spPr>
        <p:txBody>
          <a:bodyPr wrap="none" rtlCol="0">
            <a:spAutoFit/>
          </a:bodyPr>
          <a:lstStyle/>
          <a:p>
            <a:r>
              <a:rPr lang="en-IN" sz="2000" b="1" u="sng" dirty="0" smtClean="0"/>
              <a:t>Steps involved in AdaBoost ( with reference to the above Example)</a:t>
            </a:r>
            <a:endParaRPr lang="en-IN" sz="2000" b="1" u="sng" dirty="0"/>
          </a:p>
        </p:txBody>
      </p:sp>
      <p:sp>
        <p:nvSpPr>
          <p:cNvPr id="6" name="TextBox 5">
            <a:hlinkClick r:id="rId2"/>
          </p:cNvPr>
          <p:cNvSpPr txBox="1"/>
          <p:nvPr/>
        </p:nvSpPr>
        <p:spPr>
          <a:xfrm>
            <a:off x="2574457" y="6415565"/>
            <a:ext cx="7858540" cy="276999"/>
          </a:xfrm>
          <a:prstGeom prst="rect">
            <a:avLst/>
          </a:prstGeom>
          <a:noFill/>
        </p:spPr>
        <p:txBody>
          <a:bodyPr wrap="square" rtlCol="0">
            <a:spAutoFit/>
          </a:bodyPr>
          <a:lstStyle/>
          <a:p>
            <a:pPr algn="ctr"/>
            <a:r>
              <a:rPr lang="en-IN" sz="1200" b="1" dirty="0" smtClean="0">
                <a:solidFill>
                  <a:srgbClr val="0070C0"/>
                </a:solidFill>
              </a:rPr>
              <a:t>Source</a:t>
            </a:r>
            <a:r>
              <a:rPr lang="en-IN" sz="1200" b="1" dirty="0">
                <a:solidFill>
                  <a:srgbClr val="0070C0"/>
                </a:solidFill>
              </a:rPr>
              <a:t>: </a:t>
            </a:r>
            <a:r>
              <a:rPr lang="en-IN" sz="1200" b="1" dirty="0">
                <a:solidFill>
                  <a:srgbClr val="0070C0"/>
                </a:solidFill>
                <a:hlinkClick r:id="rId3"/>
              </a:rPr>
              <a:t>https://www.geeksforgeeks.org/machine-learning/adaboost-in-machine-learning/</a:t>
            </a:r>
            <a:endParaRPr lang="en-IN" sz="1200" b="1" dirty="0">
              <a:solidFill>
                <a:srgbClr val="0070C0"/>
              </a:solidFill>
            </a:endParaRPr>
          </a:p>
        </p:txBody>
      </p:sp>
      <p:sp>
        <p:nvSpPr>
          <p:cNvPr id="2" name="TextBox 1"/>
          <p:cNvSpPr txBox="1"/>
          <p:nvPr/>
        </p:nvSpPr>
        <p:spPr>
          <a:xfrm>
            <a:off x="2385390" y="848140"/>
            <a:ext cx="9647583" cy="5016758"/>
          </a:xfrm>
          <a:prstGeom prst="rect">
            <a:avLst/>
          </a:prstGeom>
          <a:noFill/>
        </p:spPr>
        <p:txBody>
          <a:bodyPr wrap="square" rtlCol="0">
            <a:spAutoFit/>
          </a:bodyPr>
          <a:lstStyle/>
          <a:p>
            <a:pPr fontAlgn="base"/>
            <a:r>
              <a:rPr lang="en-GB" sz="1600" b="1" dirty="0"/>
              <a:t>Step 1: Initial Model (B1)</a:t>
            </a:r>
          </a:p>
          <a:p>
            <a:pPr marL="285750" indent="-285750" fontAlgn="base">
              <a:buFont typeface="Wingdings" panose="05000000000000000000" pitchFamily="2" charset="2"/>
              <a:buChar char="Ø"/>
            </a:pPr>
            <a:r>
              <a:rPr lang="en-GB" sz="1600" dirty="0"/>
              <a:t>The dataset consists of multiple data points (red, blue and green circles).</a:t>
            </a:r>
          </a:p>
          <a:p>
            <a:pPr marL="285750" indent="-285750" fontAlgn="base">
              <a:buFont typeface="Wingdings" panose="05000000000000000000" pitchFamily="2" charset="2"/>
              <a:buChar char="Ø"/>
            </a:pPr>
            <a:r>
              <a:rPr lang="en-GB" sz="1600" dirty="0"/>
              <a:t>Equal weight is assigned to each data point.</a:t>
            </a:r>
          </a:p>
          <a:p>
            <a:pPr marL="285750" indent="-285750" fontAlgn="base">
              <a:buFont typeface="Wingdings" panose="05000000000000000000" pitchFamily="2" charset="2"/>
              <a:buChar char="Ø"/>
            </a:pPr>
            <a:r>
              <a:rPr lang="en-GB" sz="1600" dirty="0"/>
              <a:t>The first weak classifier attempts to create a decision boundary.</a:t>
            </a:r>
          </a:p>
          <a:p>
            <a:pPr marL="285750" indent="-285750" fontAlgn="base">
              <a:buFont typeface="Wingdings" panose="05000000000000000000" pitchFamily="2" charset="2"/>
              <a:buChar char="Ø"/>
            </a:pPr>
            <a:r>
              <a:rPr lang="en-GB" sz="1600" dirty="0"/>
              <a:t>8 data points are wrongly classified.</a:t>
            </a:r>
          </a:p>
          <a:p>
            <a:pPr fontAlgn="base"/>
            <a:r>
              <a:rPr lang="en-GB" sz="1600" b="1" dirty="0"/>
              <a:t>Step 2: Adjusting Weights (B2)</a:t>
            </a:r>
          </a:p>
          <a:p>
            <a:pPr marL="285750" indent="-285750" fontAlgn="base">
              <a:buFont typeface="Wingdings" panose="05000000000000000000" pitchFamily="2" charset="2"/>
              <a:buChar char="Ø"/>
            </a:pPr>
            <a:r>
              <a:rPr lang="en-GB" sz="1600" dirty="0"/>
              <a:t>The misclassified points from B1 are assigned higher weights (shown as darker points in the next step).</a:t>
            </a:r>
          </a:p>
          <a:p>
            <a:pPr marL="285750" indent="-285750" fontAlgn="base">
              <a:buFont typeface="Wingdings" panose="05000000000000000000" pitchFamily="2" charset="2"/>
              <a:buChar char="Ø"/>
            </a:pPr>
            <a:r>
              <a:rPr lang="en-GB" sz="1600" dirty="0"/>
              <a:t>A new classifier is trained with a refined decision boundary focusing more on the previously misclassified points.</a:t>
            </a:r>
          </a:p>
          <a:p>
            <a:pPr marL="285750" indent="-285750" fontAlgn="base">
              <a:buFont typeface="Wingdings" panose="05000000000000000000" pitchFamily="2" charset="2"/>
              <a:buChar char="Ø"/>
            </a:pPr>
            <a:r>
              <a:rPr lang="en-GB" sz="1600" dirty="0"/>
              <a:t>Some previously misclassified points are now correctly classified.</a:t>
            </a:r>
          </a:p>
          <a:p>
            <a:pPr marL="285750" indent="-285750" fontAlgn="base">
              <a:buFont typeface="Wingdings" panose="05000000000000000000" pitchFamily="2" charset="2"/>
              <a:buChar char="Ø"/>
            </a:pPr>
            <a:r>
              <a:rPr lang="en-GB" sz="1600" dirty="0"/>
              <a:t>6 data points are wrongly classified.</a:t>
            </a:r>
          </a:p>
          <a:p>
            <a:pPr fontAlgn="base"/>
            <a:r>
              <a:rPr lang="en-GB" sz="1600" b="1" dirty="0"/>
              <a:t>Step 3: Further Adjustment (B3)</a:t>
            </a:r>
          </a:p>
          <a:p>
            <a:pPr marL="285750" indent="-285750" fontAlgn="base">
              <a:buFont typeface="Wingdings" panose="05000000000000000000" pitchFamily="2" charset="2"/>
              <a:buChar char="Ø"/>
            </a:pPr>
            <a:r>
              <a:rPr lang="en-GB" sz="1600" dirty="0"/>
              <a:t>The newly misclassified points from B2 receive higher weights to ensure better classification.</a:t>
            </a:r>
          </a:p>
          <a:p>
            <a:pPr marL="285750" indent="-285750" fontAlgn="base">
              <a:buFont typeface="Wingdings" panose="05000000000000000000" pitchFamily="2" charset="2"/>
              <a:buChar char="Ø"/>
            </a:pPr>
            <a:r>
              <a:rPr lang="en-GB" sz="1600" dirty="0"/>
              <a:t>The classifier adjusts again using an improved decision boundary and 4 data points remain misclassified.</a:t>
            </a:r>
          </a:p>
          <a:p>
            <a:pPr fontAlgn="base"/>
            <a:r>
              <a:rPr lang="en-GB" sz="1600" b="1" dirty="0"/>
              <a:t>Step 4: Final Strong Model (B4 - Ensemble Model)</a:t>
            </a:r>
          </a:p>
          <a:p>
            <a:pPr marL="285750" indent="-285750" fontAlgn="base">
              <a:buFont typeface="Wingdings" panose="05000000000000000000" pitchFamily="2" charset="2"/>
              <a:buChar char="Ø"/>
            </a:pPr>
            <a:r>
              <a:rPr lang="en-GB" sz="1600" dirty="0"/>
              <a:t>The final ensemble classifier combines B1, B2 and B3 to get strengths of all weak classifiers.</a:t>
            </a:r>
          </a:p>
          <a:p>
            <a:pPr marL="285750" indent="-285750" fontAlgn="base">
              <a:buFont typeface="Wingdings" panose="05000000000000000000" pitchFamily="2" charset="2"/>
              <a:buChar char="Ø"/>
            </a:pPr>
            <a:r>
              <a:rPr lang="en-GB" sz="1600" dirty="0"/>
              <a:t>By aggregating multiple models the ensemble model achieves higher accuracy than any individual weak model.</a:t>
            </a:r>
          </a:p>
        </p:txBody>
      </p:sp>
    </p:spTree>
    <p:extLst>
      <p:ext uri="{BB962C8B-B14F-4D97-AF65-F5344CB8AC3E}">
        <p14:creationId xmlns:p14="http://schemas.microsoft.com/office/powerpoint/2010/main" val="388819715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85252" y="583096"/>
            <a:ext cx="4097597" cy="553998"/>
          </a:xfrm>
          <a:prstGeom prst="rect">
            <a:avLst/>
          </a:prstGeom>
          <a:noFill/>
        </p:spPr>
        <p:txBody>
          <a:bodyPr wrap="none" rtlCol="0">
            <a:spAutoFit/>
          </a:bodyPr>
          <a:lstStyle/>
          <a:p>
            <a:r>
              <a:rPr lang="en-IN" sz="3000" b="1" dirty="0" smtClean="0"/>
              <a:t>GRADIENT</a:t>
            </a:r>
            <a:r>
              <a:rPr lang="en-IN" sz="3000" b="1" dirty="0" smtClean="0"/>
              <a:t> </a:t>
            </a:r>
            <a:r>
              <a:rPr lang="en-IN" sz="3000" b="1" dirty="0" smtClean="0"/>
              <a:t>BOOSTING</a:t>
            </a:r>
            <a:endParaRPr lang="en-IN" sz="3000" b="1" dirty="0"/>
          </a:p>
        </p:txBody>
      </p:sp>
      <p:sp>
        <p:nvSpPr>
          <p:cNvPr id="5" name="TextBox 4"/>
          <p:cNvSpPr txBox="1"/>
          <p:nvPr/>
        </p:nvSpPr>
        <p:spPr>
          <a:xfrm>
            <a:off x="2601251" y="1311964"/>
            <a:ext cx="8958470" cy="3785652"/>
          </a:xfrm>
          <a:prstGeom prst="rect">
            <a:avLst/>
          </a:prstGeom>
          <a:noFill/>
        </p:spPr>
        <p:txBody>
          <a:bodyPr wrap="square" rtlCol="0">
            <a:spAutoFit/>
          </a:bodyPr>
          <a:lstStyle/>
          <a:p>
            <a:pPr algn="just"/>
            <a:r>
              <a:rPr lang="en-IN" sz="2400" dirty="0" smtClean="0"/>
              <a:t>	</a:t>
            </a:r>
            <a:r>
              <a:rPr lang="en-GB" sz="2400" dirty="0"/>
              <a:t>Gradient Boosting is a boosting algorithm and here each new model is trained to minimize the loss function such as mean squared error or cross-entropy of the previous model using </a:t>
            </a:r>
            <a:r>
              <a:rPr lang="en-GB" sz="2400" b="1" dirty="0"/>
              <a:t>gradient descent</a:t>
            </a:r>
            <a:r>
              <a:rPr lang="en-GB" sz="2400" dirty="0"/>
              <a:t>. In each iteration the algorithm computes the gradient of the loss function with respect to predictions and then trains a new weak model to predict this gradient. Predictions of the new model are then added to the ensemble (all models prediction) and the process is repeated until a stopping criterion is met.</a:t>
            </a:r>
            <a:endParaRPr lang="en-IN" sz="2400" dirty="0"/>
          </a:p>
        </p:txBody>
      </p:sp>
      <p:sp>
        <p:nvSpPr>
          <p:cNvPr id="6" name="TextBox 5">
            <a:hlinkClick r:id="rId2"/>
          </p:cNvPr>
          <p:cNvSpPr txBox="1"/>
          <p:nvPr/>
        </p:nvSpPr>
        <p:spPr>
          <a:xfrm>
            <a:off x="2716695" y="6415565"/>
            <a:ext cx="7858540" cy="276999"/>
          </a:xfrm>
          <a:prstGeom prst="rect">
            <a:avLst/>
          </a:prstGeom>
          <a:noFill/>
        </p:spPr>
        <p:txBody>
          <a:bodyPr wrap="square" rtlCol="0">
            <a:spAutoFit/>
          </a:bodyPr>
          <a:lstStyle/>
          <a:p>
            <a:pPr algn="ctr"/>
            <a:r>
              <a:rPr lang="en-IN" sz="1200" b="1" dirty="0" smtClean="0">
                <a:solidFill>
                  <a:srgbClr val="0070C0"/>
                </a:solidFill>
              </a:rPr>
              <a:t>Source</a:t>
            </a:r>
            <a:r>
              <a:rPr lang="en-IN" sz="1200" b="1" dirty="0">
                <a:solidFill>
                  <a:srgbClr val="0070C0"/>
                </a:solidFill>
              </a:rPr>
              <a:t>: </a:t>
            </a:r>
            <a:r>
              <a:rPr lang="en-IN" sz="1200" b="1" dirty="0">
                <a:solidFill>
                  <a:srgbClr val="0070C0"/>
                </a:solidFill>
                <a:hlinkClick r:id="rId3"/>
              </a:rPr>
              <a:t>https://www.geeksforgeeks.org/machine-learning/ml-gradient-boosting/</a:t>
            </a:r>
            <a:endParaRPr lang="en-IN" sz="1200" b="1" dirty="0">
              <a:solidFill>
                <a:srgbClr val="0070C0"/>
              </a:solidFill>
            </a:endParaRPr>
          </a:p>
        </p:txBody>
      </p:sp>
    </p:spTree>
    <p:extLst>
      <p:ext uri="{BB962C8B-B14F-4D97-AF65-F5344CB8AC3E}">
        <p14:creationId xmlns:p14="http://schemas.microsoft.com/office/powerpoint/2010/main" val="353366467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809460" y="649357"/>
            <a:ext cx="2566728" cy="400110"/>
          </a:xfrm>
          <a:prstGeom prst="rect">
            <a:avLst/>
          </a:prstGeom>
          <a:noFill/>
        </p:spPr>
        <p:txBody>
          <a:bodyPr wrap="none" rtlCol="0">
            <a:spAutoFit/>
          </a:bodyPr>
          <a:lstStyle/>
          <a:p>
            <a:r>
              <a:rPr lang="en-IN" sz="2000" b="1" dirty="0" smtClean="0"/>
              <a:t>GRADIENT</a:t>
            </a:r>
            <a:r>
              <a:rPr lang="en-IN" sz="2000" b="1" dirty="0" smtClean="0"/>
              <a:t> </a:t>
            </a:r>
            <a:r>
              <a:rPr lang="en-IN" sz="2000" b="1" dirty="0" smtClean="0"/>
              <a:t>DESCENT</a:t>
            </a:r>
            <a:endParaRPr lang="en-IN" sz="2000" b="1" dirty="0"/>
          </a:p>
        </p:txBody>
      </p:sp>
      <p:sp>
        <p:nvSpPr>
          <p:cNvPr id="5" name="TextBox 4"/>
          <p:cNvSpPr txBox="1"/>
          <p:nvPr/>
        </p:nvSpPr>
        <p:spPr>
          <a:xfrm>
            <a:off x="2716695" y="1152938"/>
            <a:ext cx="8958470" cy="1015663"/>
          </a:xfrm>
          <a:prstGeom prst="rect">
            <a:avLst/>
          </a:prstGeom>
          <a:noFill/>
        </p:spPr>
        <p:txBody>
          <a:bodyPr wrap="square" rtlCol="0">
            <a:spAutoFit/>
          </a:bodyPr>
          <a:lstStyle/>
          <a:p>
            <a:pPr algn="just"/>
            <a:r>
              <a:rPr lang="en-IN" sz="2400" dirty="0" smtClean="0"/>
              <a:t>	</a:t>
            </a:r>
            <a:r>
              <a:rPr lang="en-GB" dirty="0"/>
              <a:t>Gradient Descent is an </a:t>
            </a:r>
            <a:r>
              <a:rPr lang="en-GB" u="sng" dirty="0">
                <a:hlinkClick r:id="rId2"/>
              </a:rPr>
              <a:t>optimization algorithm</a:t>
            </a:r>
            <a:r>
              <a:rPr lang="en-GB" u="sng" dirty="0"/>
              <a:t> </a:t>
            </a:r>
            <a:r>
              <a:rPr lang="en-GB" dirty="0"/>
              <a:t>used to minimize the error of a machine learning model by updating parameters in the direction of decreasing loss.</a:t>
            </a:r>
            <a:endParaRPr lang="en-IN" sz="2400" dirty="0"/>
          </a:p>
        </p:txBody>
      </p:sp>
      <p:sp>
        <p:nvSpPr>
          <p:cNvPr id="6" name="TextBox 5">
            <a:hlinkClick r:id="rId3"/>
          </p:cNvPr>
          <p:cNvSpPr txBox="1"/>
          <p:nvPr/>
        </p:nvSpPr>
        <p:spPr>
          <a:xfrm>
            <a:off x="2303499" y="6455321"/>
            <a:ext cx="8987354" cy="276999"/>
          </a:xfrm>
          <a:prstGeom prst="rect">
            <a:avLst/>
          </a:prstGeom>
          <a:noFill/>
        </p:spPr>
        <p:txBody>
          <a:bodyPr wrap="square" rtlCol="0">
            <a:spAutoFit/>
          </a:bodyPr>
          <a:lstStyle/>
          <a:p>
            <a:pPr algn="ctr"/>
            <a:r>
              <a:rPr lang="en-IN" sz="1200" b="1" dirty="0" smtClean="0">
                <a:solidFill>
                  <a:srgbClr val="0070C0"/>
                </a:solidFill>
              </a:rPr>
              <a:t>Source</a:t>
            </a:r>
            <a:r>
              <a:rPr lang="en-IN" sz="1200" b="1" dirty="0">
                <a:solidFill>
                  <a:srgbClr val="0070C0"/>
                </a:solidFill>
              </a:rPr>
              <a:t>: </a:t>
            </a:r>
            <a:r>
              <a:rPr lang="en-IN" sz="1200" b="1" dirty="0">
                <a:solidFill>
                  <a:srgbClr val="0070C0"/>
                </a:solidFill>
                <a:hlinkClick r:id="rId4"/>
              </a:rPr>
              <a:t>https://www.geeksforgeeks.org/machine-learning/gradient-descent-algorithm-and-its-variants/</a:t>
            </a:r>
            <a:endParaRPr lang="en-IN" sz="1200" b="1" dirty="0">
              <a:solidFill>
                <a:srgbClr val="0070C0"/>
              </a:solidFill>
            </a:endParaRPr>
          </a:p>
        </p:txBody>
      </p:sp>
      <p:pic>
        <p:nvPicPr>
          <p:cNvPr id="3" name="Picture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74504" y="2168601"/>
            <a:ext cx="8052564" cy="4026282"/>
          </a:xfrm>
          <a:prstGeom prst="rect">
            <a:avLst/>
          </a:prstGeom>
        </p:spPr>
      </p:pic>
    </p:spTree>
    <p:extLst>
      <p:ext uri="{BB962C8B-B14F-4D97-AF65-F5344CB8AC3E}">
        <p14:creationId xmlns:p14="http://schemas.microsoft.com/office/powerpoint/2010/main" val="312451440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809460" y="172279"/>
            <a:ext cx="2566728" cy="400110"/>
          </a:xfrm>
          <a:prstGeom prst="rect">
            <a:avLst/>
          </a:prstGeom>
          <a:noFill/>
        </p:spPr>
        <p:txBody>
          <a:bodyPr wrap="none" rtlCol="0">
            <a:spAutoFit/>
          </a:bodyPr>
          <a:lstStyle/>
          <a:p>
            <a:r>
              <a:rPr lang="en-IN" sz="2000" b="1" dirty="0" smtClean="0"/>
              <a:t>GRADIENT</a:t>
            </a:r>
            <a:r>
              <a:rPr lang="en-IN" sz="2000" b="1" dirty="0" smtClean="0"/>
              <a:t> </a:t>
            </a:r>
            <a:r>
              <a:rPr lang="en-IN" sz="2000" b="1" dirty="0" smtClean="0"/>
              <a:t>DESCENT</a:t>
            </a:r>
            <a:endParaRPr lang="en-IN" sz="2000" b="1" dirty="0"/>
          </a:p>
        </p:txBody>
      </p:sp>
      <p:sp>
        <p:nvSpPr>
          <p:cNvPr id="5" name="TextBox 4"/>
          <p:cNvSpPr txBox="1"/>
          <p:nvPr/>
        </p:nvSpPr>
        <p:spPr>
          <a:xfrm>
            <a:off x="2809460" y="572389"/>
            <a:ext cx="8958470" cy="2308324"/>
          </a:xfrm>
          <a:prstGeom prst="rect">
            <a:avLst/>
          </a:prstGeom>
          <a:noFill/>
        </p:spPr>
        <p:txBody>
          <a:bodyPr wrap="square" rtlCol="0">
            <a:spAutoFit/>
          </a:bodyPr>
          <a:lstStyle/>
          <a:p>
            <a:pPr marL="342900" indent="-342900" algn="just">
              <a:buFont typeface="Wingdings" panose="05000000000000000000" pitchFamily="2" charset="2"/>
              <a:buChar char="Ø"/>
            </a:pPr>
            <a:r>
              <a:rPr lang="en-GB" dirty="0" smtClean="0"/>
              <a:t>Minimizes </a:t>
            </a:r>
            <a:r>
              <a:rPr lang="en-GB" dirty="0"/>
              <a:t>the loss or error of a </a:t>
            </a:r>
            <a:r>
              <a:rPr lang="en-GB" dirty="0" smtClean="0"/>
              <a:t>model</a:t>
            </a:r>
          </a:p>
          <a:p>
            <a:pPr marL="342900" indent="-342900" algn="just">
              <a:buFont typeface="Wingdings" panose="05000000000000000000" pitchFamily="2" charset="2"/>
              <a:buChar char="Ø"/>
            </a:pPr>
            <a:endParaRPr lang="en-GB" dirty="0"/>
          </a:p>
          <a:p>
            <a:pPr marL="342900" indent="-342900" algn="just">
              <a:buFont typeface="Wingdings" panose="05000000000000000000" pitchFamily="2" charset="2"/>
              <a:buChar char="Ø"/>
            </a:pPr>
            <a:r>
              <a:rPr lang="en-GB" dirty="0"/>
              <a:t>Updates parameters step by step using </a:t>
            </a:r>
            <a:r>
              <a:rPr lang="en-GB" dirty="0" smtClean="0"/>
              <a:t>gradients</a:t>
            </a:r>
          </a:p>
          <a:p>
            <a:pPr marL="342900" indent="-342900" algn="just">
              <a:buFont typeface="Wingdings" panose="05000000000000000000" pitchFamily="2" charset="2"/>
              <a:buChar char="Ø"/>
            </a:pPr>
            <a:endParaRPr lang="en-GB" dirty="0"/>
          </a:p>
          <a:p>
            <a:pPr marL="342900" indent="-342900" algn="just">
              <a:buFont typeface="Wingdings" panose="05000000000000000000" pitchFamily="2" charset="2"/>
              <a:buChar char="Ø"/>
            </a:pPr>
            <a:r>
              <a:rPr lang="en-GB" dirty="0"/>
              <a:t>Helps models like neural networks and regression learn optimal </a:t>
            </a:r>
            <a:r>
              <a:rPr lang="en-GB" dirty="0" smtClean="0"/>
              <a:t>weights</a:t>
            </a:r>
          </a:p>
          <a:p>
            <a:pPr marL="342900" indent="-342900" algn="just">
              <a:buFont typeface="Wingdings" panose="05000000000000000000" pitchFamily="2" charset="2"/>
              <a:buChar char="Ø"/>
            </a:pPr>
            <a:endParaRPr lang="en-GB" dirty="0"/>
          </a:p>
          <a:p>
            <a:pPr marL="342900" indent="-342900" algn="just">
              <a:buFont typeface="Wingdings" panose="05000000000000000000" pitchFamily="2" charset="2"/>
              <a:buChar char="Ø"/>
            </a:pPr>
            <a:r>
              <a:rPr lang="en-GB" dirty="0"/>
              <a:t>Variants include Batch Gradient Descent, Stochastic Gradient Descent and Mini Batch Gradient Descent</a:t>
            </a:r>
            <a:endParaRPr lang="en-IN" dirty="0"/>
          </a:p>
        </p:txBody>
      </p:sp>
      <p:sp>
        <p:nvSpPr>
          <p:cNvPr id="6" name="TextBox 5">
            <a:hlinkClick r:id="rId2"/>
          </p:cNvPr>
          <p:cNvSpPr txBox="1"/>
          <p:nvPr/>
        </p:nvSpPr>
        <p:spPr>
          <a:xfrm>
            <a:off x="2303499" y="6455321"/>
            <a:ext cx="8987354" cy="276999"/>
          </a:xfrm>
          <a:prstGeom prst="rect">
            <a:avLst/>
          </a:prstGeom>
          <a:noFill/>
        </p:spPr>
        <p:txBody>
          <a:bodyPr wrap="square" rtlCol="0">
            <a:spAutoFit/>
          </a:bodyPr>
          <a:lstStyle/>
          <a:p>
            <a:pPr algn="ctr"/>
            <a:r>
              <a:rPr lang="en-IN" sz="1200" b="1" dirty="0" smtClean="0">
                <a:solidFill>
                  <a:srgbClr val="0070C0"/>
                </a:solidFill>
              </a:rPr>
              <a:t>Source</a:t>
            </a:r>
            <a:r>
              <a:rPr lang="en-IN" sz="1200" b="1" dirty="0">
                <a:solidFill>
                  <a:srgbClr val="0070C0"/>
                </a:solidFill>
              </a:rPr>
              <a:t>: </a:t>
            </a:r>
            <a:r>
              <a:rPr lang="en-IN" sz="1200" b="1" dirty="0">
                <a:solidFill>
                  <a:srgbClr val="0070C0"/>
                </a:solidFill>
                <a:hlinkClick r:id="rId3"/>
              </a:rPr>
              <a:t>https://www.geeksforgeeks.org/machine-learning/gradient-descent-algorithm-and-its-variants/</a:t>
            </a:r>
            <a:endParaRPr lang="en-IN" sz="1200" b="1" dirty="0">
              <a:solidFill>
                <a:srgbClr val="0070C0"/>
              </a:solidFill>
            </a:endParaRPr>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79561" y="2880713"/>
            <a:ext cx="4036130" cy="3294800"/>
          </a:xfrm>
          <a:prstGeom prst="rect">
            <a:avLst/>
          </a:prstGeom>
        </p:spPr>
      </p:pic>
    </p:spTree>
    <p:extLst>
      <p:ext uri="{BB962C8B-B14F-4D97-AF65-F5344CB8AC3E}">
        <p14:creationId xmlns:p14="http://schemas.microsoft.com/office/powerpoint/2010/main" val="1757265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85252" y="583096"/>
            <a:ext cx="3256020" cy="553998"/>
          </a:xfrm>
          <a:prstGeom prst="rect">
            <a:avLst/>
          </a:prstGeom>
          <a:noFill/>
        </p:spPr>
        <p:txBody>
          <a:bodyPr wrap="none" rtlCol="0">
            <a:spAutoFit/>
          </a:bodyPr>
          <a:lstStyle/>
          <a:p>
            <a:r>
              <a:rPr lang="en-IN" sz="3000" b="1" dirty="0" smtClean="0"/>
              <a:t>2. XG</a:t>
            </a:r>
            <a:r>
              <a:rPr lang="en-IN" sz="3000" b="1" dirty="0" smtClean="0"/>
              <a:t> </a:t>
            </a:r>
            <a:r>
              <a:rPr lang="en-IN" sz="3000" b="1" dirty="0" smtClean="0"/>
              <a:t>BOOSTING</a:t>
            </a:r>
            <a:endParaRPr lang="en-IN" sz="3000" b="1" dirty="0"/>
          </a:p>
        </p:txBody>
      </p:sp>
      <p:sp>
        <p:nvSpPr>
          <p:cNvPr id="5" name="TextBox 4"/>
          <p:cNvSpPr txBox="1"/>
          <p:nvPr/>
        </p:nvSpPr>
        <p:spPr>
          <a:xfrm>
            <a:off x="2601251" y="1311964"/>
            <a:ext cx="8958470" cy="4893647"/>
          </a:xfrm>
          <a:prstGeom prst="rect">
            <a:avLst/>
          </a:prstGeom>
          <a:noFill/>
        </p:spPr>
        <p:txBody>
          <a:bodyPr wrap="square" rtlCol="0">
            <a:spAutoFit/>
          </a:bodyPr>
          <a:lstStyle/>
          <a:p>
            <a:pPr algn="just"/>
            <a:r>
              <a:rPr lang="en-IN" sz="2400" dirty="0" smtClean="0"/>
              <a:t>	</a:t>
            </a:r>
            <a:r>
              <a:rPr lang="en-GB" sz="2400" dirty="0"/>
              <a:t>Traditional models like decision trees and random forests are easy to interpret but may lack accuracy on complex data. XGBoost (</a:t>
            </a:r>
            <a:r>
              <a:rPr lang="en-GB" sz="2400" dirty="0" err="1"/>
              <a:t>eXtreme</a:t>
            </a:r>
            <a:r>
              <a:rPr lang="en-GB" sz="2400" dirty="0"/>
              <a:t> Gradient Boosting) is an optimized gradient boosting algorithm that combines multiple weak models into a stronger, high-performance model.</a:t>
            </a:r>
          </a:p>
          <a:p>
            <a:pPr algn="just"/>
            <a:endParaRPr lang="en-GB" sz="2400" dirty="0"/>
          </a:p>
          <a:p>
            <a:pPr marL="342900" indent="-342900" algn="just">
              <a:buFont typeface="Wingdings" panose="05000000000000000000" pitchFamily="2" charset="2"/>
              <a:buChar char="Ø"/>
            </a:pPr>
            <a:r>
              <a:rPr lang="en-GB" sz="2400" dirty="0"/>
              <a:t>It uses decision trees as base learners, building them sequentially so each tree corrects errors from the previous one and it is known as boosting</a:t>
            </a:r>
            <a:r>
              <a:rPr lang="en-GB" sz="2400" dirty="0" smtClean="0"/>
              <a:t>.</a:t>
            </a:r>
          </a:p>
          <a:p>
            <a:pPr marL="342900" indent="-342900" algn="just">
              <a:buFont typeface="Wingdings" panose="05000000000000000000" pitchFamily="2" charset="2"/>
              <a:buChar char="Ø"/>
            </a:pPr>
            <a:endParaRPr lang="en-GB" sz="2400" dirty="0"/>
          </a:p>
          <a:p>
            <a:pPr marL="342900" indent="-342900" algn="just">
              <a:buFont typeface="Wingdings" panose="05000000000000000000" pitchFamily="2" charset="2"/>
              <a:buChar char="Ø"/>
            </a:pPr>
            <a:r>
              <a:rPr lang="en-GB" sz="2400" dirty="0"/>
              <a:t>It features parallel processing for faster training on large datasets and allows parameter customization to optimize performance for specific problems.</a:t>
            </a:r>
            <a:endParaRPr lang="en-IN" sz="2400" dirty="0"/>
          </a:p>
        </p:txBody>
      </p:sp>
      <p:sp>
        <p:nvSpPr>
          <p:cNvPr id="6" name="TextBox 5">
            <a:hlinkClick r:id="rId2"/>
          </p:cNvPr>
          <p:cNvSpPr txBox="1"/>
          <p:nvPr/>
        </p:nvSpPr>
        <p:spPr>
          <a:xfrm>
            <a:off x="2716695" y="6415565"/>
            <a:ext cx="7858540" cy="276999"/>
          </a:xfrm>
          <a:prstGeom prst="rect">
            <a:avLst/>
          </a:prstGeom>
          <a:noFill/>
        </p:spPr>
        <p:txBody>
          <a:bodyPr wrap="square" rtlCol="0">
            <a:spAutoFit/>
          </a:bodyPr>
          <a:lstStyle/>
          <a:p>
            <a:pPr algn="ctr"/>
            <a:r>
              <a:rPr lang="en-IN" sz="1200" b="1" dirty="0" smtClean="0">
                <a:solidFill>
                  <a:srgbClr val="0070C0"/>
                </a:solidFill>
              </a:rPr>
              <a:t>Source</a:t>
            </a:r>
            <a:r>
              <a:rPr lang="en-IN" sz="1200" b="1" dirty="0">
                <a:solidFill>
                  <a:srgbClr val="0070C0"/>
                </a:solidFill>
              </a:rPr>
              <a:t>: </a:t>
            </a:r>
            <a:r>
              <a:rPr lang="en-IN" sz="1200" b="1" dirty="0">
                <a:solidFill>
                  <a:srgbClr val="0070C0"/>
                </a:solidFill>
                <a:hlinkClick r:id="rId3"/>
              </a:rPr>
              <a:t>https://www.geeksforgeeks.org/machine-learning/xgboost/</a:t>
            </a:r>
            <a:endParaRPr lang="en-IN" sz="1200" b="1" dirty="0">
              <a:solidFill>
                <a:srgbClr val="0070C0"/>
              </a:solidFill>
            </a:endParaRPr>
          </a:p>
        </p:txBody>
      </p:sp>
    </p:spTree>
    <p:extLst>
      <p:ext uri="{BB962C8B-B14F-4D97-AF65-F5344CB8AC3E}">
        <p14:creationId xmlns:p14="http://schemas.microsoft.com/office/powerpoint/2010/main" val="182211996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57530" y="484782"/>
            <a:ext cx="3256020" cy="553998"/>
          </a:xfrm>
          <a:prstGeom prst="rect">
            <a:avLst/>
          </a:prstGeom>
          <a:noFill/>
        </p:spPr>
        <p:txBody>
          <a:bodyPr wrap="none" rtlCol="0">
            <a:spAutoFit/>
          </a:bodyPr>
          <a:lstStyle/>
          <a:p>
            <a:r>
              <a:rPr lang="en-IN" sz="3000" b="1" dirty="0"/>
              <a:t>2</a:t>
            </a:r>
            <a:r>
              <a:rPr lang="en-IN" sz="3000" b="1" dirty="0" smtClean="0"/>
              <a:t>. XG</a:t>
            </a:r>
            <a:r>
              <a:rPr lang="en-IN" sz="3000" b="1" dirty="0" smtClean="0"/>
              <a:t> </a:t>
            </a:r>
            <a:r>
              <a:rPr lang="en-IN" sz="3000" b="1" dirty="0" smtClean="0"/>
              <a:t>BOOSTING</a:t>
            </a:r>
            <a:endParaRPr lang="en-IN" sz="3000" b="1" dirty="0"/>
          </a:p>
        </p:txBody>
      </p:sp>
      <p:sp>
        <p:nvSpPr>
          <p:cNvPr id="6" name="TextBox 5">
            <a:hlinkClick r:id="rId2"/>
          </p:cNvPr>
          <p:cNvSpPr txBox="1"/>
          <p:nvPr/>
        </p:nvSpPr>
        <p:spPr>
          <a:xfrm>
            <a:off x="2716695" y="6415565"/>
            <a:ext cx="7858540" cy="276999"/>
          </a:xfrm>
          <a:prstGeom prst="rect">
            <a:avLst/>
          </a:prstGeom>
          <a:noFill/>
        </p:spPr>
        <p:txBody>
          <a:bodyPr wrap="square" rtlCol="0">
            <a:spAutoFit/>
          </a:bodyPr>
          <a:lstStyle/>
          <a:p>
            <a:pPr algn="ctr"/>
            <a:r>
              <a:rPr lang="en-IN" sz="1200" b="1" dirty="0" smtClean="0">
                <a:solidFill>
                  <a:srgbClr val="0070C0"/>
                </a:solidFill>
              </a:rPr>
              <a:t>Source</a:t>
            </a:r>
            <a:r>
              <a:rPr lang="en-IN" sz="1200" b="1" dirty="0">
                <a:solidFill>
                  <a:srgbClr val="0070C0"/>
                </a:solidFill>
              </a:rPr>
              <a:t>: </a:t>
            </a:r>
            <a:r>
              <a:rPr lang="en-IN" sz="1200" b="1" dirty="0">
                <a:solidFill>
                  <a:srgbClr val="0070C0"/>
                </a:solidFill>
                <a:hlinkClick r:id="rId3"/>
              </a:rPr>
              <a:t>https://www.geeksforgeeks.org/machine-learning/xgboost/</a:t>
            </a:r>
            <a:endParaRPr lang="en-IN" sz="1200" b="1" dirty="0">
              <a:solidFill>
                <a:srgbClr val="0070C0"/>
              </a:solidFill>
            </a:endParaRPr>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16695" y="1444488"/>
            <a:ext cx="8867909" cy="4433955"/>
          </a:xfrm>
          <a:prstGeom prst="rect">
            <a:avLst/>
          </a:prstGeom>
        </p:spPr>
      </p:pic>
    </p:spTree>
    <p:extLst>
      <p:ext uri="{BB962C8B-B14F-4D97-AF65-F5344CB8AC3E}">
        <p14:creationId xmlns:p14="http://schemas.microsoft.com/office/powerpoint/2010/main" val="54882937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16695" y="418521"/>
            <a:ext cx="3653564" cy="400110"/>
          </a:xfrm>
          <a:prstGeom prst="rect">
            <a:avLst/>
          </a:prstGeom>
          <a:noFill/>
        </p:spPr>
        <p:txBody>
          <a:bodyPr wrap="none" rtlCol="0">
            <a:spAutoFit/>
          </a:bodyPr>
          <a:lstStyle/>
          <a:p>
            <a:r>
              <a:rPr lang="en-IN" sz="2000" b="1" dirty="0" smtClean="0"/>
              <a:t>WORKING OF XG</a:t>
            </a:r>
            <a:r>
              <a:rPr lang="en-IN" sz="2000" b="1" dirty="0" smtClean="0"/>
              <a:t> </a:t>
            </a:r>
            <a:r>
              <a:rPr lang="en-IN" sz="2000" b="1" dirty="0" smtClean="0"/>
              <a:t>BOOSTING</a:t>
            </a:r>
            <a:endParaRPr lang="en-IN" sz="2000" b="1" dirty="0"/>
          </a:p>
        </p:txBody>
      </p:sp>
      <p:sp>
        <p:nvSpPr>
          <p:cNvPr id="6" name="TextBox 5">
            <a:hlinkClick r:id="rId2"/>
          </p:cNvPr>
          <p:cNvSpPr txBox="1"/>
          <p:nvPr/>
        </p:nvSpPr>
        <p:spPr>
          <a:xfrm>
            <a:off x="2716695" y="6415565"/>
            <a:ext cx="7858540" cy="276999"/>
          </a:xfrm>
          <a:prstGeom prst="rect">
            <a:avLst/>
          </a:prstGeom>
          <a:noFill/>
        </p:spPr>
        <p:txBody>
          <a:bodyPr wrap="square" rtlCol="0">
            <a:spAutoFit/>
          </a:bodyPr>
          <a:lstStyle/>
          <a:p>
            <a:pPr algn="ctr"/>
            <a:r>
              <a:rPr lang="en-IN" sz="1200" b="1" dirty="0" smtClean="0">
                <a:solidFill>
                  <a:srgbClr val="0070C0"/>
                </a:solidFill>
              </a:rPr>
              <a:t>Source</a:t>
            </a:r>
            <a:r>
              <a:rPr lang="en-IN" sz="1200" b="1" dirty="0">
                <a:solidFill>
                  <a:srgbClr val="0070C0"/>
                </a:solidFill>
              </a:rPr>
              <a:t>: </a:t>
            </a:r>
            <a:r>
              <a:rPr lang="en-IN" sz="1200" b="1" dirty="0">
                <a:solidFill>
                  <a:srgbClr val="0070C0"/>
                </a:solidFill>
                <a:hlinkClick r:id="rId3"/>
              </a:rPr>
              <a:t>https://www.geeksforgeeks.org/machine-learning/xgboost/</a:t>
            </a:r>
            <a:endParaRPr lang="en-IN" sz="1200" b="1" dirty="0">
              <a:solidFill>
                <a:srgbClr val="0070C0"/>
              </a:solidFill>
            </a:endParaRPr>
          </a:p>
        </p:txBody>
      </p:sp>
      <p:sp>
        <p:nvSpPr>
          <p:cNvPr id="5" name="TextBox 4"/>
          <p:cNvSpPr txBox="1"/>
          <p:nvPr/>
        </p:nvSpPr>
        <p:spPr>
          <a:xfrm>
            <a:off x="2716695" y="939442"/>
            <a:ext cx="8958470" cy="5355312"/>
          </a:xfrm>
          <a:prstGeom prst="rect">
            <a:avLst/>
          </a:prstGeom>
          <a:noFill/>
        </p:spPr>
        <p:txBody>
          <a:bodyPr wrap="square" rtlCol="0">
            <a:spAutoFit/>
          </a:bodyPr>
          <a:lstStyle/>
          <a:p>
            <a:pPr fontAlgn="base"/>
            <a:r>
              <a:rPr lang="en-GB" dirty="0" smtClean="0"/>
              <a:t>	It </a:t>
            </a:r>
            <a:r>
              <a:rPr lang="en-GB" dirty="0"/>
              <a:t>builds </a:t>
            </a:r>
            <a:r>
              <a:rPr lang="en-GB" u="sng" dirty="0">
                <a:hlinkClick r:id="rId4"/>
              </a:rPr>
              <a:t>decision trees</a:t>
            </a:r>
            <a:r>
              <a:rPr lang="en-GB" dirty="0"/>
              <a:t> sequentially with each tree attempting to correct the mistakes made by the previous one. The process can be broken down as follows</a:t>
            </a:r>
            <a:r>
              <a:rPr lang="en-GB" dirty="0" smtClean="0"/>
              <a:t>:</a:t>
            </a:r>
          </a:p>
          <a:p>
            <a:pPr fontAlgn="base"/>
            <a:endParaRPr lang="en-GB" dirty="0"/>
          </a:p>
          <a:p>
            <a:pPr fontAlgn="base"/>
            <a:r>
              <a:rPr lang="en-GB" b="1" dirty="0"/>
              <a:t>Start with a base learner</a:t>
            </a:r>
            <a:r>
              <a:rPr lang="en-GB" dirty="0"/>
              <a:t>: The first model decision tree is trained on the data. In regression tasks this base model simply predicts the average of the target variable</a:t>
            </a:r>
            <a:r>
              <a:rPr lang="en-GB" dirty="0" smtClean="0"/>
              <a:t>.</a:t>
            </a:r>
          </a:p>
          <a:p>
            <a:pPr fontAlgn="base"/>
            <a:endParaRPr lang="en-GB" dirty="0"/>
          </a:p>
          <a:p>
            <a:pPr fontAlgn="base"/>
            <a:r>
              <a:rPr lang="en-GB" b="1" dirty="0"/>
              <a:t>Calculate the errors</a:t>
            </a:r>
            <a:r>
              <a:rPr lang="en-GB" dirty="0"/>
              <a:t>: After training the first tree the errors between the predicted and actual values are calculated</a:t>
            </a:r>
            <a:r>
              <a:rPr lang="en-GB" dirty="0" smtClean="0"/>
              <a:t>.</a:t>
            </a:r>
          </a:p>
          <a:p>
            <a:pPr fontAlgn="base"/>
            <a:endParaRPr lang="en-GB" dirty="0"/>
          </a:p>
          <a:p>
            <a:pPr fontAlgn="base"/>
            <a:r>
              <a:rPr lang="en-GB" b="1" dirty="0"/>
              <a:t>Train the next tree</a:t>
            </a:r>
            <a:r>
              <a:rPr lang="en-GB" dirty="0"/>
              <a:t>: The next tree is trained on the errors of the previous tree. This step attempts to correct the errors made by the first tree</a:t>
            </a:r>
            <a:r>
              <a:rPr lang="en-GB" dirty="0" smtClean="0"/>
              <a:t>.</a:t>
            </a:r>
          </a:p>
          <a:p>
            <a:pPr fontAlgn="base"/>
            <a:endParaRPr lang="en-GB" dirty="0"/>
          </a:p>
          <a:p>
            <a:pPr fontAlgn="base"/>
            <a:r>
              <a:rPr lang="en-GB" b="1" dirty="0"/>
              <a:t>Repeat the process</a:t>
            </a:r>
            <a:r>
              <a:rPr lang="en-GB" dirty="0"/>
              <a:t>: This process continues with each new tree trying to correct the errors of the previous trees until a stopping criterion is met</a:t>
            </a:r>
            <a:r>
              <a:rPr lang="en-GB" dirty="0" smtClean="0"/>
              <a:t>.</a:t>
            </a:r>
          </a:p>
          <a:p>
            <a:pPr fontAlgn="base"/>
            <a:endParaRPr lang="en-GB" dirty="0"/>
          </a:p>
          <a:p>
            <a:pPr fontAlgn="base"/>
            <a:r>
              <a:rPr lang="en-GB" b="1" dirty="0"/>
              <a:t>Combine the predictions</a:t>
            </a:r>
            <a:r>
              <a:rPr lang="en-GB" dirty="0"/>
              <a:t>: The final prediction is the sum of the predictions from all the trees.</a:t>
            </a:r>
          </a:p>
        </p:txBody>
      </p:sp>
    </p:spTree>
    <p:extLst>
      <p:ext uri="{BB962C8B-B14F-4D97-AF65-F5344CB8AC3E}">
        <p14:creationId xmlns:p14="http://schemas.microsoft.com/office/powerpoint/2010/main" val="89694435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332853" y="352260"/>
            <a:ext cx="5480988" cy="553998"/>
          </a:xfrm>
          <a:prstGeom prst="rect">
            <a:avLst/>
          </a:prstGeom>
          <a:noFill/>
        </p:spPr>
        <p:txBody>
          <a:bodyPr wrap="none" rtlCol="0">
            <a:spAutoFit/>
          </a:bodyPr>
          <a:lstStyle/>
          <a:p>
            <a:pPr algn="ctr"/>
            <a:r>
              <a:rPr lang="en-IN" sz="3000" b="1" dirty="0" smtClean="0"/>
              <a:t>3. LG</a:t>
            </a:r>
            <a:r>
              <a:rPr lang="en-IN" sz="3000" b="1" dirty="0" smtClean="0"/>
              <a:t> </a:t>
            </a:r>
            <a:r>
              <a:rPr lang="en-IN" sz="3000" b="1" dirty="0" smtClean="0"/>
              <a:t>BOOSTING (LIGHTGBM)</a:t>
            </a:r>
            <a:endParaRPr lang="en-IN" sz="3000" b="1" dirty="0"/>
          </a:p>
        </p:txBody>
      </p:sp>
      <p:sp>
        <p:nvSpPr>
          <p:cNvPr id="6" name="TextBox 5">
            <a:hlinkClick r:id="rId2"/>
          </p:cNvPr>
          <p:cNvSpPr txBox="1"/>
          <p:nvPr/>
        </p:nvSpPr>
        <p:spPr>
          <a:xfrm>
            <a:off x="2716695" y="6415565"/>
            <a:ext cx="7858540" cy="276999"/>
          </a:xfrm>
          <a:prstGeom prst="rect">
            <a:avLst/>
          </a:prstGeom>
          <a:noFill/>
        </p:spPr>
        <p:txBody>
          <a:bodyPr wrap="square" rtlCol="0">
            <a:spAutoFit/>
          </a:bodyPr>
          <a:lstStyle/>
          <a:p>
            <a:pPr algn="ctr"/>
            <a:r>
              <a:rPr lang="en-IN" sz="1200" b="1" dirty="0" smtClean="0">
                <a:solidFill>
                  <a:srgbClr val="0070C0"/>
                </a:solidFill>
              </a:rPr>
              <a:t>Source</a:t>
            </a:r>
            <a:r>
              <a:rPr lang="en-IN" sz="1200" b="1" dirty="0">
                <a:solidFill>
                  <a:srgbClr val="0070C0"/>
                </a:solidFill>
              </a:rPr>
              <a:t>: </a:t>
            </a:r>
            <a:r>
              <a:rPr lang="en-IN" sz="1200" b="1" dirty="0">
                <a:solidFill>
                  <a:srgbClr val="0070C0"/>
                </a:solidFill>
                <a:hlinkClick r:id="rId3"/>
              </a:rPr>
              <a:t>https://www.geeksforgeeks.org/machine-learning/lightgbm-light-gradient-boosting-machine/</a:t>
            </a:r>
            <a:endParaRPr lang="en-IN" sz="1200" b="1" dirty="0">
              <a:solidFill>
                <a:srgbClr val="0070C0"/>
              </a:solidFill>
            </a:endParaRPr>
          </a:p>
        </p:txBody>
      </p:sp>
      <p:sp>
        <p:nvSpPr>
          <p:cNvPr id="5" name="TextBox 4"/>
          <p:cNvSpPr txBox="1"/>
          <p:nvPr/>
        </p:nvSpPr>
        <p:spPr>
          <a:xfrm>
            <a:off x="2716695" y="1029422"/>
            <a:ext cx="8713305" cy="5262979"/>
          </a:xfrm>
          <a:prstGeom prst="rect">
            <a:avLst/>
          </a:prstGeom>
          <a:noFill/>
        </p:spPr>
        <p:txBody>
          <a:bodyPr wrap="square" rtlCol="0">
            <a:spAutoFit/>
          </a:bodyPr>
          <a:lstStyle/>
          <a:p>
            <a:r>
              <a:rPr lang="en-GB" dirty="0" smtClean="0"/>
              <a:t>	</a:t>
            </a:r>
            <a:r>
              <a:rPr lang="en-GB" sz="2400" dirty="0" err="1" smtClean="0"/>
              <a:t>LightGBM</a:t>
            </a:r>
            <a:r>
              <a:rPr lang="en-GB" sz="2400" dirty="0" smtClean="0"/>
              <a:t> </a:t>
            </a:r>
            <a:r>
              <a:rPr lang="en-GB" sz="2400" dirty="0"/>
              <a:t>is an open-source high-performance framework developed by Microsoft. It is an ensemble learning framework that uses gradient boosting method which constructs a strong learner by sequentially adding weak learners in a gradient descent manner.</a:t>
            </a:r>
          </a:p>
          <a:p>
            <a:endParaRPr lang="en-GB" sz="2400" dirty="0"/>
          </a:p>
          <a:p>
            <a:r>
              <a:rPr lang="en-GB" sz="2400" dirty="0" smtClean="0"/>
              <a:t>	It's </a:t>
            </a:r>
            <a:r>
              <a:rPr lang="en-GB" sz="2400" dirty="0"/>
              <a:t>designed for efficiency, scalability and high accuracy particularly with large datasets. It uses decision trees that grow efficiently by minimizing memory usage and optimizing training time. Key innovations like Gradient-based One-Side Sampling (GOSS), histogram-based algorithms and leaf-wise tree growth enable </a:t>
            </a:r>
            <a:r>
              <a:rPr lang="en-GB" sz="2400" dirty="0" err="1"/>
              <a:t>LightGBM</a:t>
            </a:r>
            <a:r>
              <a:rPr lang="en-GB" sz="2400" dirty="0"/>
              <a:t> to outperform other frameworks in both speed and accuracy.</a:t>
            </a:r>
            <a:endParaRPr lang="en-IN" sz="2400" dirty="0"/>
          </a:p>
        </p:txBody>
      </p:sp>
    </p:spTree>
    <p:extLst>
      <p:ext uri="{BB962C8B-B14F-4D97-AF65-F5344CB8AC3E}">
        <p14:creationId xmlns:p14="http://schemas.microsoft.com/office/powerpoint/2010/main" val="328686365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332853" y="352260"/>
            <a:ext cx="5480988" cy="553998"/>
          </a:xfrm>
          <a:prstGeom prst="rect">
            <a:avLst/>
          </a:prstGeom>
          <a:noFill/>
        </p:spPr>
        <p:txBody>
          <a:bodyPr wrap="none" rtlCol="0">
            <a:spAutoFit/>
          </a:bodyPr>
          <a:lstStyle/>
          <a:p>
            <a:pPr algn="ctr"/>
            <a:r>
              <a:rPr lang="en-IN" sz="3000" b="1" dirty="0" smtClean="0"/>
              <a:t>3. LG</a:t>
            </a:r>
            <a:r>
              <a:rPr lang="en-IN" sz="3000" b="1" dirty="0" smtClean="0"/>
              <a:t> </a:t>
            </a:r>
            <a:r>
              <a:rPr lang="en-IN" sz="3000" b="1" dirty="0" smtClean="0"/>
              <a:t>BOOSTING (LIGHTGBM)</a:t>
            </a:r>
            <a:endParaRPr lang="en-IN" sz="3000" b="1" dirty="0"/>
          </a:p>
        </p:txBody>
      </p:sp>
      <p:sp>
        <p:nvSpPr>
          <p:cNvPr id="6" name="TextBox 5">
            <a:hlinkClick r:id="rId2"/>
          </p:cNvPr>
          <p:cNvSpPr txBox="1"/>
          <p:nvPr/>
        </p:nvSpPr>
        <p:spPr>
          <a:xfrm>
            <a:off x="2716695" y="6415565"/>
            <a:ext cx="7858540" cy="276999"/>
          </a:xfrm>
          <a:prstGeom prst="rect">
            <a:avLst/>
          </a:prstGeom>
          <a:noFill/>
        </p:spPr>
        <p:txBody>
          <a:bodyPr wrap="square" rtlCol="0">
            <a:spAutoFit/>
          </a:bodyPr>
          <a:lstStyle/>
          <a:p>
            <a:pPr algn="ctr"/>
            <a:r>
              <a:rPr lang="en-IN" sz="1200" b="1" dirty="0" smtClean="0">
                <a:solidFill>
                  <a:srgbClr val="0070C0"/>
                </a:solidFill>
              </a:rPr>
              <a:t>Source</a:t>
            </a:r>
            <a:r>
              <a:rPr lang="en-IN" sz="1200" b="1" dirty="0">
                <a:solidFill>
                  <a:srgbClr val="0070C0"/>
                </a:solidFill>
              </a:rPr>
              <a:t>: </a:t>
            </a:r>
            <a:r>
              <a:rPr lang="en-IN" sz="1200" b="1" dirty="0">
                <a:solidFill>
                  <a:srgbClr val="0070C0"/>
                </a:solidFill>
                <a:hlinkClick r:id="rId3"/>
              </a:rPr>
              <a:t>https://www.geeksforgeeks.org/machine-learning/lightgbm-light-gradient-boosting-machine/</a:t>
            </a:r>
            <a:endParaRPr lang="en-IN" sz="1200" b="1" dirty="0">
              <a:solidFill>
                <a:srgbClr val="0070C0"/>
              </a:solidFill>
            </a:endParaRPr>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16695" y="1470991"/>
            <a:ext cx="8398846" cy="4199423"/>
          </a:xfrm>
          <a:prstGeom prst="rect">
            <a:avLst/>
          </a:prstGeom>
        </p:spPr>
      </p:pic>
    </p:spTree>
    <p:extLst>
      <p:ext uri="{BB962C8B-B14F-4D97-AF65-F5344CB8AC3E}">
        <p14:creationId xmlns:p14="http://schemas.microsoft.com/office/powerpoint/2010/main" val="361780876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332853" y="352260"/>
            <a:ext cx="5480988" cy="553998"/>
          </a:xfrm>
          <a:prstGeom prst="rect">
            <a:avLst/>
          </a:prstGeom>
          <a:noFill/>
        </p:spPr>
        <p:txBody>
          <a:bodyPr wrap="none" rtlCol="0">
            <a:spAutoFit/>
          </a:bodyPr>
          <a:lstStyle/>
          <a:p>
            <a:pPr algn="ctr"/>
            <a:r>
              <a:rPr lang="en-IN" sz="3000" b="1" dirty="0" smtClean="0"/>
              <a:t>3. LG</a:t>
            </a:r>
            <a:r>
              <a:rPr lang="en-IN" sz="3000" b="1" dirty="0" smtClean="0"/>
              <a:t> </a:t>
            </a:r>
            <a:r>
              <a:rPr lang="en-IN" sz="3000" b="1" dirty="0" smtClean="0"/>
              <a:t>BOOSTING (LIGHTGBM)</a:t>
            </a:r>
            <a:endParaRPr lang="en-IN" sz="3000" b="1" dirty="0"/>
          </a:p>
        </p:txBody>
      </p:sp>
      <p:sp>
        <p:nvSpPr>
          <p:cNvPr id="6" name="TextBox 5">
            <a:hlinkClick r:id="rId2"/>
          </p:cNvPr>
          <p:cNvSpPr txBox="1"/>
          <p:nvPr/>
        </p:nvSpPr>
        <p:spPr>
          <a:xfrm>
            <a:off x="2716695" y="6415565"/>
            <a:ext cx="7858540" cy="276999"/>
          </a:xfrm>
          <a:prstGeom prst="rect">
            <a:avLst/>
          </a:prstGeom>
          <a:noFill/>
        </p:spPr>
        <p:txBody>
          <a:bodyPr wrap="square" rtlCol="0">
            <a:spAutoFit/>
          </a:bodyPr>
          <a:lstStyle/>
          <a:p>
            <a:pPr algn="ctr"/>
            <a:r>
              <a:rPr lang="en-IN" sz="1200" b="1" dirty="0" smtClean="0">
                <a:solidFill>
                  <a:srgbClr val="0070C0"/>
                </a:solidFill>
              </a:rPr>
              <a:t>Source</a:t>
            </a:r>
            <a:r>
              <a:rPr lang="en-IN" sz="1200" b="1" dirty="0">
                <a:solidFill>
                  <a:srgbClr val="0070C0"/>
                </a:solidFill>
              </a:rPr>
              <a:t>: </a:t>
            </a:r>
            <a:r>
              <a:rPr lang="en-IN" sz="1200" b="1" dirty="0">
                <a:solidFill>
                  <a:srgbClr val="0070C0"/>
                </a:solidFill>
                <a:hlinkClick r:id="rId3"/>
              </a:rPr>
              <a:t>https://www.geeksforgeeks.org/machine-learning/lightgbm-light-gradient-boosting-machine/</a:t>
            </a:r>
            <a:endParaRPr lang="en-IN" sz="1200" b="1" dirty="0">
              <a:solidFill>
                <a:srgbClr val="0070C0"/>
              </a:solidFill>
            </a:endParaRPr>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16695" y="1447798"/>
            <a:ext cx="8788398" cy="4394199"/>
          </a:xfrm>
          <a:prstGeom prst="rect">
            <a:avLst/>
          </a:prstGeom>
        </p:spPr>
      </p:pic>
    </p:spTree>
    <p:extLst>
      <p:ext uri="{BB962C8B-B14F-4D97-AF65-F5344CB8AC3E}">
        <p14:creationId xmlns:p14="http://schemas.microsoft.com/office/powerpoint/2010/main" val="2307047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332853" y="352260"/>
            <a:ext cx="5480988" cy="553998"/>
          </a:xfrm>
          <a:prstGeom prst="rect">
            <a:avLst/>
          </a:prstGeom>
          <a:noFill/>
        </p:spPr>
        <p:txBody>
          <a:bodyPr wrap="none" rtlCol="0">
            <a:spAutoFit/>
          </a:bodyPr>
          <a:lstStyle/>
          <a:p>
            <a:pPr algn="ctr"/>
            <a:r>
              <a:rPr lang="en-IN" sz="3000" b="1" dirty="0" smtClean="0"/>
              <a:t>3. LG</a:t>
            </a:r>
            <a:r>
              <a:rPr lang="en-IN" sz="3000" b="1" dirty="0" smtClean="0"/>
              <a:t> </a:t>
            </a:r>
            <a:r>
              <a:rPr lang="en-IN" sz="3000" b="1" dirty="0" smtClean="0"/>
              <a:t>BOOSTING (LIGHTGBM)</a:t>
            </a:r>
            <a:endParaRPr lang="en-IN" sz="3000" b="1" dirty="0"/>
          </a:p>
        </p:txBody>
      </p:sp>
      <p:sp>
        <p:nvSpPr>
          <p:cNvPr id="6" name="TextBox 5">
            <a:hlinkClick r:id="rId2"/>
          </p:cNvPr>
          <p:cNvSpPr txBox="1"/>
          <p:nvPr/>
        </p:nvSpPr>
        <p:spPr>
          <a:xfrm>
            <a:off x="2716695" y="6415565"/>
            <a:ext cx="7858540" cy="276999"/>
          </a:xfrm>
          <a:prstGeom prst="rect">
            <a:avLst/>
          </a:prstGeom>
          <a:noFill/>
        </p:spPr>
        <p:txBody>
          <a:bodyPr wrap="square" rtlCol="0">
            <a:spAutoFit/>
          </a:bodyPr>
          <a:lstStyle/>
          <a:p>
            <a:pPr algn="ctr"/>
            <a:r>
              <a:rPr lang="en-IN" sz="1200" b="1" dirty="0" smtClean="0">
                <a:solidFill>
                  <a:srgbClr val="0070C0"/>
                </a:solidFill>
              </a:rPr>
              <a:t>Source</a:t>
            </a:r>
            <a:r>
              <a:rPr lang="en-IN" sz="1200" b="1" dirty="0">
                <a:solidFill>
                  <a:srgbClr val="0070C0"/>
                </a:solidFill>
              </a:rPr>
              <a:t>: </a:t>
            </a:r>
            <a:r>
              <a:rPr lang="en-IN" sz="1200" b="1" dirty="0">
                <a:solidFill>
                  <a:srgbClr val="0070C0"/>
                </a:solidFill>
                <a:hlinkClick r:id="rId3"/>
              </a:rPr>
              <a:t>https://www.geeksforgeeks.org/machine-learning/lightgbm-light-gradient-boosting-machine/</a:t>
            </a:r>
            <a:endParaRPr lang="en-IN" sz="1200" b="1" dirty="0">
              <a:solidFill>
                <a:srgbClr val="0070C0"/>
              </a:solidFill>
            </a:endParaRPr>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16695" y="1338470"/>
            <a:ext cx="8576362" cy="4288181"/>
          </a:xfrm>
          <a:prstGeom prst="rect">
            <a:avLst/>
          </a:prstGeom>
        </p:spPr>
      </p:pic>
    </p:spTree>
    <p:extLst>
      <p:ext uri="{BB962C8B-B14F-4D97-AF65-F5344CB8AC3E}">
        <p14:creationId xmlns:p14="http://schemas.microsoft.com/office/powerpoint/2010/main" val="155909260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048000" y="669945"/>
            <a:ext cx="3719288" cy="400110"/>
          </a:xfrm>
          <a:prstGeom prst="rect">
            <a:avLst/>
          </a:prstGeom>
          <a:noFill/>
        </p:spPr>
        <p:txBody>
          <a:bodyPr wrap="none" rtlCol="0">
            <a:spAutoFit/>
          </a:bodyPr>
          <a:lstStyle/>
          <a:p>
            <a:pPr fontAlgn="base"/>
            <a:r>
              <a:rPr lang="en-IN" sz="2000" b="1" dirty="0"/>
              <a:t>Advantages of the LightGBM</a:t>
            </a:r>
          </a:p>
        </p:txBody>
      </p:sp>
      <p:sp>
        <p:nvSpPr>
          <p:cNvPr id="6" name="TextBox 5">
            <a:hlinkClick r:id="rId2"/>
          </p:cNvPr>
          <p:cNvSpPr txBox="1"/>
          <p:nvPr/>
        </p:nvSpPr>
        <p:spPr>
          <a:xfrm>
            <a:off x="2716695" y="6415565"/>
            <a:ext cx="7858540" cy="276999"/>
          </a:xfrm>
          <a:prstGeom prst="rect">
            <a:avLst/>
          </a:prstGeom>
          <a:noFill/>
        </p:spPr>
        <p:txBody>
          <a:bodyPr wrap="square" rtlCol="0">
            <a:spAutoFit/>
          </a:bodyPr>
          <a:lstStyle/>
          <a:p>
            <a:pPr algn="ctr"/>
            <a:r>
              <a:rPr lang="en-IN" sz="1200" b="1" dirty="0" smtClean="0">
                <a:solidFill>
                  <a:srgbClr val="0070C0"/>
                </a:solidFill>
              </a:rPr>
              <a:t>Source</a:t>
            </a:r>
            <a:r>
              <a:rPr lang="en-IN" sz="1200" b="1" dirty="0">
                <a:solidFill>
                  <a:srgbClr val="0070C0"/>
                </a:solidFill>
              </a:rPr>
              <a:t>: </a:t>
            </a:r>
            <a:r>
              <a:rPr lang="en-IN" sz="1200" b="1" dirty="0">
                <a:solidFill>
                  <a:srgbClr val="0070C0"/>
                </a:solidFill>
                <a:hlinkClick r:id="rId3"/>
              </a:rPr>
              <a:t>https://www.geeksforgeeks.org/machine-learning/lightgbm-light-gradient-boosting-machine/</a:t>
            </a:r>
            <a:endParaRPr lang="en-IN" sz="1200" b="1" dirty="0">
              <a:solidFill>
                <a:srgbClr val="0070C0"/>
              </a:solidFill>
            </a:endParaRPr>
          </a:p>
        </p:txBody>
      </p:sp>
      <p:sp>
        <p:nvSpPr>
          <p:cNvPr id="3" name="Rectangle 2"/>
          <p:cNvSpPr/>
          <p:nvPr/>
        </p:nvSpPr>
        <p:spPr>
          <a:xfrm>
            <a:off x="3048000" y="1579748"/>
            <a:ext cx="7527235" cy="3416320"/>
          </a:xfrm>
          <a:prstGeom prst="rect">
            <a:avLst/>
          </a:prstGeom>
        </p:spPr>
        <p:txBody>
          <a:bodyPr wrap="square">
            <a:spAutoFit/>
          </a:bodyPr>
          <a:lstStyle/>
          <a:p>
            <a:pPr marL="285750" indent="-285750" fontAlgn="base">
              <a:buFont typeface="Wingdings" panose="05000000000000000000" pitchFamily="2" charset="2"/>
              <a:buChar char="Ø"/>
            </a:pPr>
            <a:r>
              <a:rPr lang="en-GB" b="1" dirty="0">
                <a:solidFill>
                  <a:srgbClr val="273239"/>
                </a:solidFill>
                <a:latin typeface="+mj-lt"/>
              </a:rPr>
              <a:t>Faster speed and higher accuracy</a:t>
            </a:r>
            <a:r>
              <a:rPr lang="en-GB" dirty="0">
                <a:solidFill>
                  <a:srgbClr val="273239"/>
                </a:solidFill>
                <a:latin typeface="+mj-lt"/>
              </a:rPr>
              <a:t>: It outperforms other gradient boosting algorithms on large datasets</a:t>
            </a:r>
            <a:r>
              <a:rPr lang="en-GB" dirty="0" smtClean="0">
                <a:solidFill>
                  <a:srgbClr val="273239"/>
                </a:solidFill>
                <a:latin typeface="+mj-lt"/>
              </a:rPr>
              <a:t>.</a:t>
            </a:r>
          </a:p>
          <a:p>
            <a:pPr marL="285750" indent="-285750" fontAlgn="base">
              <a:buFont typeface="Wingdings" panose="05000000000000000000" pitchFamily="2" charset="2"/>
              <a:buChar char="Ø"/>
            </a:pPr>
            <a:endParaRPr lang="en-GB" dirty="0">
              <a:solidFill>
                <a:srgbClr val="273239"/>
              </a:solidFill>
              <a:latin typeface="+mj-lt"/>
            </a:endParaRPr>
          </a:p>
          <a:p>
            <a:pPr marL="285750" indent="-285750" fontAlgn="base">
              <a:buFont typeface="Wingdings" panose="05000000000000000000" pitchFamily="2" charset="2"/>
              <a:buChar char="Ø"/>
            </a:pPr>
            <a:r>
              <a:rPr lang="en-GB" b="1" dirty="0">
                <a:solidFill>
                  <a:srgbClr val="273239"/>
                </a:solidFill>
                <a:latin typeface="+mj-lt"/>
              </a:rPr>
              <a:t>Low memory usage</a:t>
            </a:r>
            <a:r>
              <a:rPr lang="en-GB" dirty="0">
                <a:solidFill>
                  <a:srgbClr val="273239"/>
                </a:solidFill>
                <a:latin typeface="+mj-lt"/>
              </a:rPr>
              <a:t>: Optimized for memory efficiency and handling large datasets with minimal overhead</a:t>
            </a:r>
            <a:r>
              <a:rPr lang="en-GB" dirty="0" smtClean="0">
                <a:solidFill>
                  <a:srgbClr val="273239"/>
                </a:solidFill>
                <a:latin typeface="+mj-lt"/>
              </a:rPr>
              <a:t>.</a:t>
            </a:r>
          </a:p>
          <a:p>
            <a:pPr marL="285750" indent="-285750" fontAlgn="base">
              <a:buFont typeface="Wingdings" panose="05000000000000000000" pitchFamily="2" charset="2"/>
              <a:buChar char="Ø"/>
            </a:pPr>
            <a:endParaRPr lang="en-GB" dirty="0">
              <a:solidFill>
                <a:srgbClr val="273239"/>
              </a:solidFill>
              <a:latin typeface="+mj-lt"/>
            </a:endParaRPr>
          </a:p>
          <a:p>
            <a:pPr marL="285750" indent="-285750" fontAlgn="base">
              <a:buFont typeface="Wingdings" panose="05000000000000000000" pitchFamily="2" charset="2"/>
              <a:buChar char="Ø"/>
            </a:pPr>
            <a:r>
              <a:rPr lang="en-GB" b="1" dirty="0">
                <a:solidFill>
                  <a:srgbClr val="273239"/>
                </a:solidFill>
                <a:latin typeface="+mj-lt"/>
              </a:rPr>
              <a:t>Parallel and GPU learning support</a:t>
            </a:r>
            <a:r>
              <a:rPr lang="en-GB" dirty="0">
                <a:solidFill>
                  <a:srgbClr val="273239"/>
                </a:solidFill>
                <a:latin typeface="+mj-lt"/>
              </a:rPr>
              <a:t>: Takes advantage of multiple cores or GPUs for faster training</a:t>
            </a:r>
            <a:r>
              <a:rPr lang="en-GB" dirty="0" smtClean="0">
                <a:solidFill>
                  <a:srgbClr val="273239"/>
                </a:solidFill>
                <a:latin typeface="+mj-lt"/>
              </a:rPr>
              <a:t>.</a:t>
            </a:r>
          </a:p>
          <a:p>
            <a:pPr marL="285750" indent="-285750" fontAlgn="base">
              <a:buFont typeface="Wingdings" panose="05000000000000000000" pitchFamily="2" charset="2"/>
              <a:buChar char="Ø"/>
            </a:pPr>
            <a:endParaRPr lang="en-GB" dirty="0">
              <a:solidFill>
                <a:srgbClr val="273239"/>
              </a:solidFill>
              <a:latin typeface="+mj-lt"/>
            </a:endParaRPr>
          </a:p>
          <a:p>
            <a:pPr marL="285750" indent="-285750" fontAlgn="base">
              <a:buFont typeface="Wingdings" panose="05000000000000000000" pitchFamily="2" charset="2"/>
              <a:buChar char="Ø"/>
            </a:pPr>
            <a:r>
              <a:rPr lang="en-GB" b="1" dirty="0">
                <a:solidFill>
                  <a:srgbClr val="273239"/>
                </a:solidFill>
                <a:latin typeface="+mj-lt"/>
              </a:rPr>
              <a:t>Effective on large datasets</a:t>
            </a:r>
            <a:r>
              <a:rPr lang="en-GB" dirty="0">
                <a:solidFill>
                  <a:srgbClr val="273239"/>
                </a:solidFill>
                <a:latin typeface="+mj-lt"/>
              </a:rPr>
              <a:t>: Its optimized techniques such as leaf-wise growth and histogram-based learning make it suitable for big data applications.</a:t>
            </a:r>
            <a:endParaRPr lang="en-GB" b="0" i="0" dirty="0">
              <a:solidFill>
                <a:srgbClr val="273239"/>
              </a:solidFill>
              <a:effectLst/>
              <a:latin typeface="+mj-lt"/>
            </a:endParaRPr>
          </a:p>
        </p:txBody>
      </p:sp>
    </p:spTree>
    <p:extLst>
      <p:ext uri="{BB962C8B-B14F-4D97-AF65-F5344CB8AC3E}">
        <p14:creationId xmlns:p14="http://schemas.microsoft.com/office/powerpoint/2010/main" val="1057606283"/>
      </p:ext>
    </p:extLst>
  </p:cSld>
  <p:clrMapOvr>
    <a:masterClrMapping/>
  </p:clrMapOvr>
  <p:timing>
    <p:tnLst>
      <p:par>
        <p:cTn id="1" dur="indefinite" restart="never" nodeType="tmRoot"/>
      </p:par>
    </p:tnLst>
  </p:timing>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385</TotalTime>
  <Words>503</Words>
  <Application>Microsoft Office PowerPoint</Application>
  <PresentationFormat>Widescreen</PresentationFormat>
  <Paragraphs>97</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Century Gothic</vt:lpstr>
      <vt:lpstr>Wingdings</vt:lpstr>
      <vt:lpstr>Wingdings 3</vt:lpstr>
      <vt:lpstr>Wisp</vt:lpstr>
      <vt:lpstr>Boosting Algorithm - Regression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Boosting Algorithm - Regression</dc:title>
  <dc:creator>ADMIN</dc:creator>
  <cp:lastModifiedBy>ADMIN</cp:lastModifiedBy>
  <cp:revision>21</cp:revision>
  <dcterms:created xsi:type="dcterms:W3CDTF">2026-10-02T13:18:20Z</dcterms:created>
  <dcterms:modified xsi:type="dcterms:W3CDTF">2026-10-09T18:44:40Z</dcterms:modified>
</cp:coreProperties>
</file>